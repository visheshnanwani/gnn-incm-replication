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GCN baseline</c:v>
                </c:pt>
              </c:strCache>
            </c:strRef>
          </c:tx>
          <c:spPr>
            <a:solidFill>
              <a:srgbClr val="9AB3C4"/>
            </a:solidFill>
            <a:ln>
              <a:noFill/>
            </a:ln>
          </c:spPr>
          <c:cat>
            <c:strRef>
              <c:f>Sheet1!$A$2:$A$4</c:f>
              <c:strCache>
                <c:ptCount val="3"/>
                <c:pt idx="0">
                  <c:v>Cora</c:v>
                </c:pt>
                <c:pt idx="1">
                  <c:v>CiteSeer</c:v>
                </c:pt>
                <c:pt idx="2">
                  <c:v>PubMed</c:v>
                </c:pt>
              </c:strCache>
            </c:strRef>
          </c:cat>
          <c:val>
            <c:numRef>
              <c:f>Sheet1!$B$2:$B$4</c:f>
              <c:numCache>
                <c:formatCode>General</c:formatCode>
                <c:ptCount val="3"/>
                <c:pt idx="0">
                  <c:v>0.4032</c:v>
                </c:pt>
                <c:pt idx="1">
                  <c:v>0.5276</c:v>
                </c:pt>
                <c:pt idx="2">
                  <c:v>0.7466</c:v>
                </c:pt>
              </c:numCache>
            </c:numRef>
          </c:val>
        </c:ser>
        <c:ser>
          <c:idx val="1"/>
          <c:order val="1"/>
          <c:tx>
            <c:strRef>
              <c:f>Sheet1!$C$1</c:f>
              <c:strCache>
                <c:ptCount val="1"/>
                <c:pt idx="0">
                  <c:v>GNN-INCM</c:v>
                </c:pt>
              </c:strCache>
            </c:strRef>
          </c:tx>
          <c:spPr>
            <a:solidFill>
              <a:srgbClr val="1C7293"/>
            </a:solidFill>
            <a:ln>
              <a:noFill/>
            </a:ln>
          </c:spPr>
          <c:cat>
            <c:strRef>
              <c:f>Sheet1!$A$2:$A$4</c:f>
              <c:strCache>
                <c:ptCount val="3"/>
                <c:pt idx="0">
                  <c:v>Cora</c:v>
                </c:pt>
                <c:pt idx="1">
                  <c:v>CiteSeer</c:v>
                </c:pt>
                <c:pt idx="2">
                  <c:v>PubMed</c:v>
                </c:pt>
              </c:strCache>
            </c:strRef>
          </c:cat>
          <c:val>
            <c:numRef>
              <c:f>Sheet1!$C$2:$C$4</c:f>
              <c:numCache>
                <c:formatCode>General</c:formatCode>
                <c:ptCount val="3"/>
                <c:pt idx="0">
                  <c:v>0.6432</c:v>
                </c:pt>
                <c:pt idx="1">
                  <c:v>0.574</c:v>
                </c:pt>
                <c:pt idx="2">
                  <c:v>0.7555</c:v>
                </c:pt>
              </c:numCache>
            </c:numRef>
          </c:val>
        </c:ser>
        <c:dLbls>
          <c:numFmt formatCode="0.000" sourceLinked="0"/>
          <c:txPr>
            <a:bodyPr/>
            <a:lstStyle/>
            <a:p>
              <a:pPr>
                <a:defRPr sz="1050">
                  <a:solidFill>
                    <a:srgbClr val="64748B"/>
                  </a:solidFill>
                  <a:latin typeface="Calibri"/>
                </a:defRPr>
              </a:pPr>
            </a:p>
          </c:txPr>
          <c:dLblPos val="outEnd"/>
          <c:showLegendKey val="0"/>
          <c:showVal val="1"/>
          <c:showCatName val="0"/>
          <c:showSerName val="0"/>
          <c:showPercent val="0"/>
          <c:showBubbleSize val="0"/>
          <c:showLeaderLines val="1"/>
        </c:dLbls>
        <c:gapWidth val="70"/>
        <c:overlap val="-12"/>
        <c:axId val="-2068027336"/>
        <c:axId val="-2113994440"/>
      </c:barChart>
      <c:catAx>
        <c:axId val="-2068027336"/>
        <c:scaling>
          <c:orientation val="minMax"/>
        </c:scaling>
        <c:delete val="0"/>
        <c:axPos val="b"/>
        <c:majorTickMark val="none"/>
        <c:minorTickMark val="none"/>
        <c:tickLblPos val="nextTo"/>
        <c:spPr>
          <a:ln>
            <a:solidFill>
              <a:srgbClr val="C6D2DD"/>
            </a:solidFill>
          </a:ln>
        </c:spPr>
        <c:txPr>
          <a:bodyPr/>
          <a:lstStyle/>
          <a:p>
            <a:pPr>
              <a:defRPr sz="1050">
                <a:solidFill>
                  <a:srgbClr val="64748B"/>
                </a:solidFill>
                <a:latin typeface="Calibri"/>
              </a:defRPr>
            </a:pPr>
          </a:p>
        </c:txPr>
        <c:crossAx val="-2113994440"/>
        <c:crosses val="autoZero"/>
        <c:auto val="1"/>
        <c:lblAlgn val="ctr"/>
        <c:lblOffset val="100"/>
        <c:noMultiLvlLbl val="0"/>
      </c:catAx>
      <c:valAx>
        <c:axId val="-2113994440"/>
        <c:scaling>
          <c:max val="0.85"/>
          <c:min val="0.0"/>
        </c:scaling>
        <c:delete val="0"/>
        <c:axPos val="l"/>
        <c:majorGridlines>
          <c:spPr>
            <a:ln w="9525">
              <a:solidFill>
                <a:srgbClr val="DCE4EC"/>
              </a:solidFill>
            </a:ln>
          </c:spPr>
        </c:majorGridlines>
        <c:numFmt formatCode="0.0" sourceLinked="0"/>
        <c:majorTickMark val="none"/>
        <c:minorTickMark val="none"/>
        <c:tickLblPos val="nextTo"/>
        <c:spPr>
          <a:ln>
            <a:noFill/>
          </a:ln>
        </c:spPr>
        <c:txPr>
          <a:bodyPr/>
          <a:lstStyle/>
          <a:p>
            <a:pPr>
              <a:defRPr sz="1050">
                <a:solidFill>
                  <a:srgbClr val="64748B"/>
                </a:solidFill>
                <a:latin typeface="Calibri"/>
              </a:defRPr>
            </a:pPr>
          </a:p>
        </c:txPr>
        <c:crossAx val="-2068027336"/>
        <c:crosses val="autoZero"/>
      </c:valAx>
    </c:plotArea>
    <c:legend>
      <c:legendPos val="b"/>
      <c:overlay val="0"/>
      <c:txPr>
        <a:bodyPr/>
        <a:lstStyle/>
        <a:p>
          <a:pPr>
            <a:defRPr sz="1100">
              <a:solidFill>
                <a:srgbClr val="64748B"/>
              </a:solidFill>
              <a:latin typeface="Calibri"/>
            </a:defRPr>
          </a:pPr>
        </a:p>
      </c:txPr>
    </c:legend>
    <c:dispBlanksAs val="gap"/>
  </c:chart>
  <c:txPr>
    <a:bodyPr/>
    <a:lstStyle/>
    <a:p>
      <a:pPr>
        <a:defRPr sz="1050">
          <a:solidFill>
            <a:srgbClr val="64748B"/>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Paper (10 trials)</c:v>
                </c:pt>
              </c:strCache>
            </c:strRef>
          </c:tx>
          <c:spPr>
            <a:solidFill>
              <a:srgbClr val="0B3C5D"/>
            </a:solidFill>
            <a:ln>
              <a:noFill/>
            </a:ln>
          </c:spPr>
          <c:cat>
            <c:strRef>
              <c:f>Sheet1!$A$2:$A$4</c:f>
              <c:strCache>
                <c:ptCount val="3"/>
                <c:pt idx="0">
                  <c:v>Cora</c:v>
                </c:pt>
                <c:pt idx="1">
                  <c:v>CiteSeer</c:v>
                </c:pt>
                <c:pt idx="2">
                  <c:v>PubMed</c:v>
                </c:pt>
              </c:strCache>
            </c:strRef>
          </c:cat>
          <c:val>
            <c:numRef>
              <c:f>Sheet1!$B$2:$B$4</c:f>
              <c:numCache>
                <c:formatCode>General</c:formatCode>
                <c:ptCount val="3"/>
                <c:pt idx="0">
                  <c:v>0.7508</c:v>
                </c:pt>
                <c:pt idx="1">
                  <c:v>0.649</c:v>
                </c:pt>
                <c:pt idx="2">
                  <c:v>0.7704</c:v>
                </c:pt>
              </c:numCache>
            </c:numRef>
          </c:val>
        </c:ser>
        <c:ser>
          <c:idx val="1"/>
          <c:order val="1"/>
          <c:tx>
            <c:strRef>
              <c:f>Sheet1!$C$1</c:f>
              <c:strCache>
                <c:ptCount val="1"/>
                <c:pt idx="0">
                  <c:v>This reproduction (3 seeds)</c:v>
                </c:pt>
              </c:strCache>
            </c:strRef>
          </c:tx>
          <c:spPr>
            <a:solidFill>
              <a:srgbClr val="C45A3C"/>
            </a:solidFill>
            <a:ln>
              <a:noFill/>
            </a:ln>
          </c:spPr>
          <c:cat>
            <c:strRef>
              <c:f>Sheet1!$A$2:$A$4</c:f>
              <c:strCache>
                <c:ptCount val="3"/>
                <c:pt idx="0">
                  <c:v>Cora</c:v>
                </c:pt>
                <c:pt idx="1">
                  <c:v>CiteSeer</c:v>
                </c:pt>
                <c:pt idx="2">
                  <c:v>PubMed</c:v>
                </c:pt>
              </c:strCache>
            </c:strRef>
          </c:cat>
          <c:val>
            <c:numRef>
              <c:f>Sheet1!$C$2:$C$4</c:f>
              <c:numCache>
                <c:formatCode>General</c:formatCode>
                <c:ptCount val="3"/>
                <c:pt idx="0">
                  <c:v>0.6432</c:v>
                </c:pt>
                <c:pt idx="1">
                  <c:v>0.574</c:v>
                </c:pt>
                <c:pt idx="2">
                  <c:v>0.7555</c:v>
                </c:pt>
              </c:numCache>
            </c:numRef>
          </c:val>
        </c:ser>
        <c:dLbls>
          <c:numFmt formatCode="0.000" sourceLinked="0"/>
          <c:txPr>
            <a:bodyPr/>
            <a:lstStyle/>
            <a:p>
              <a:pPr>
                <a:defRPr sz="1050">
                  <a:solidFill>
                    <a:srgbClr val="64748B"/>
                  </a:solidFill>
                  <a:latin typeface="Calibri"/>
                </a:defRPr>
              </a:pPr>
            </a:p>
          </c:txPr>
          <c:dLblPos val="outEnd"/>
          <c:showLegendKey val="0"/>
          <c:showVal val="1"/>
          <c:showCatName val="0"/>
          <c:showSerName val="0"/>
          <c:showPercent val="0"/>
          <c:showBubbleSize val="0"/>
          <c:showLeaderLines val="1"/>
        </c:dLbls>
        <c:gapWidth val="70"/>
        <c:overlap val="-12"/>
        <c:axId val="-2068027336"/>
        <c:axId val="-2113994440"/>
      </c:barChart>
      <c:catAx>
        <c:axId val="-2068027336"/>
        <c:scaling>
          <c:orientation val="minMax"/>
        </c:scaling>
        <c:delete val="0"/>
        <c:axPos val="b"/>
        <c:majorTickMark val="none"/>
        <c:minorTickMark val="none"/>
        <c:tickLblPos val="nextTo"/>
        <c:spPr>
          <a:ln>
            <a:solidFill>
              <a:srgbClr val="C6D2DD"/>
            </a:solidFill>
          </a:ln>
        </c:spPr>
        <c:txPr>
          <a:bodyPr/>
          <a:lstStyle/>
          <a:p>
            <a:pPr>
              <a:defRPr sz="1050">
                <a:solidFill>
                  <a:srgbClr val="64748B"/>
                </a:solidFill>
                <a:latin typeface="Calibri"/>
              </a:defRPr>
            </a:pPr>
          </a:p>
        </c:txPr>
        <c:crossAx val="-2113994440"/>
        <c:crosses val="autoZero"/>
        <c:auto val="1"/>
        <c:lblAlgn val="ctr"/>
        <c:lblOffset val="100"/>
        <c:noMultiLvlLbl val="0"/>
      </c:catAx>
      <c:valAx>
        <c:axId val="-2113994440"/>
        <c:scaling>
          <c:max val="0.85"/>
          <c:min val="0.0"/>
        </c:scaling>
        <c:delete val="0"/>
        <c:axPos val="l"/>
        <c:majorGridlines>
          <c:spPr>
            <a:ln w="9525">
              <a:solidFill>
                <a:srgbClr val="DCE4EC"/>
              </a:solidFill>
            </a:ln>
          </c:spPr>
        </c:majorGridlines>
        <c:numFmt formatCode="0.0" sourceLinked="0"/>
        <c:majorTickMark val="none"/>
        <c:minorTickMark val="none"/>
        <c:tickLblPos val="nextTo"/>
        <c:spPr>
          <a:ln>
            <a:noFill/>
          </a:ln>
        </c:spPr>
        <c:txPr>
          <a:bodyPr/>
          <a:lstStyle/>
          <a:p>
            <a:pPr>
              <a:defRPr sz="1050">
                <a:solidFill>
                  <a:srgbClr val="64748B"/>
                </a:solidFill>
                <a:latin typeface="Calibri"/>
              </a:defRPr>
            </a:pPr>
          </a:p>
        </c:txPr>
        <c:crossAx val="-2068027336"/>
        <c:crosses val="autoZero"/>
      </c:valAx>
    </c:plotArea>
    <c:legend>
      <c:legendPos val="b"/>
      <c:overlay val="0"/>
      <c:txPr>
        <a:bodyPr/>
        <a:lstStyle/>
        <a:p>
          <a:pPr>
            <a:defRPr sz="1100">
              <a:solidFill>
                <a:srgbClr val="64748B"/>
              </a:solidFill>
              <a:latin typeface="Calibri"/>
            </a:defRPr>
          </a:pPr>
        </a:p>
      </c:txPr>
    </c:legend>
    <c:dispBlanksAs val="gap"/>
  </c:chart>
  <c:txPr>
    <a:bodyPr/>
    <a:lstStyle/>
    <a:p>
      <a:pPr>
        <a:defRPr sz="1050">
          <a:solidFill>
            <a:srgbClr val="64748B"/>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Macro F1</c:v>
                </c:pt>
              </c:strCache>
            </c:strRef>
          </c:tx>
          <c:spPr>
            <a:solidFill>
              <a:srgbClr val="1C7293"/>
            </a:solidFill>
            <a:ln>
              <a:noFill/>
            </a:ln>
          </c:spPr>
          <c:cat>
            <c:strRef>
              <c:f>Sheet1!$A$2:$A$5</c:f>
              <c:strCache>
                <c:ptCount val="4"/>
                <c:pt idx="0">
                  <c:v>Full
GNN-INCM</c:v>
                </c:pt>
                <c:pt idx="1">
                  <c:v>No
clustering</c:v>
                </c:pt>
                <c:pt idx="2">
                  <c:v>No
reconstruction</c:v>
                </c:pt>
                <c:pt idx="3">
                  <c:v>No hard
weights</c:v>
                </c:pt>
              </c:strCache>
            </c:strRef>
          </c:cat>
          <c:val>
            <c:numRef>
              <c:f>Sheet1!$B$2:$B$5</c:f>
              <c:numCache>
                <c:formatCode>General</c:formatCode>
                <c:ptCount val="4"/>
                <c:pt idx="0">
                  <c:v>0.6432</c:v>
                </c:pt>
                <c:pt idx="1">
                  <c:v>0.6432</c:v>
                </c:pt>
                <c:pt idx="2">
                  <c:v>0.6432</c:v>
                </c:pt>
                <c:pt idx="3">
                  <c:v>0.6707</c:v>
                </c:pt>
              </c:numCache>
            </c:numRef>
          </c:val>
        </c:ser>
        <c:dLbls>
          <c:numFmt formatCode="0.000" sourceLinked="0"/>
          <c:txPr>
            <a:bodyPr/>
            <a:lstStyle/>
            <a:p>
              <a:pPr>
                <a:defRPr sz="1050">
                  <a:solidFill>
                    <a:srgbClr val="64748B"/>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none"/>
        <c:minorTickMark val="none"/>
        <c:tickLblPos val="nextTo"/>
        <c:spPr>
          <a:ln>
            <a:solidFill>
              <a:srgbClr val="C6D2DD"/>
            </a:solidFill>
          </a:ln>
        </c:spPr>
        <c:txPr>
          <a:bodyPr/>
          <a:lstStyle/>
          <a:p>
            <a:pPr>
              <a:defRPr sz="1050">
                <a:solidFill>
                  <a:srgbClr val="64748B"/>
                </a:solidFill>
                <a:latin typeface="Calibri"/>
              </a:defRPr>
            </a:pPr>
          </a:p>
        </c:txPr>
        <c:crossAx val="-2113994440"/>
        <c:crosses val="autoZero"/>
        <c:auto val="1"/>
        <c:lblAlgn val="ctr"/>
        <c:lblOffset val="100"/>
        <c:noMultiLvlLbl val="0"/>
      </c:catAx>
      <c:valAx>
        <c:axId val="-2113994440"/>
        <c:scaling>
          <c:max val="0.85"/>
          <c:min val="0.0"/>
        </c:scaling>
        <c:delete val="0"/>
        <c:axPos val="l"/>
        <c:majorGridlines>
          <c:spPr>
            <a:ln w="9525">
              <a:solidFill>
                <a:srgbClr val="DCE4EC"/>
              </a:solidFill>
            </a:ln>
          </c:spPr>
        </c:majorGridlines>
        <c:numFmt formatCode="0.0" sourceLinked="0"/>
        <c:majorTickMark val="none"/>
        <c:minorTickMark val="none"/>
        <c:tickLblPos val="nextTo"/>
        <c:spPr>
          <a:ln>
            <a:noFill/>
          </a:ln>
        </c:spPr>
        <c:txPr>
          <a:bodyPr/>
          <a:lstStyle/>
          <a:p>
            <a:pPr>
              <a:defRPr sz="1050">
                <a:solidFill>
                  <a:srgbClr val="64748B"/>
                </a:solidFill>
                <a:latin typeface="Calibri"/>
              </a:defRPr>
            </a:pPr>
          </a:p>
        </c:txPr>
        <c:crossAx val="-2068027336"/>
        <c:crosses val="autoZero"/>
      </c:valAx>
    </c:plotArea>
    <c:dispBlanksAs val="gap"/>
  </c:chart>
  <c:txPr>
    <a:bodyPr/>
    <a:lstStyle/>
    <a:p>
      <a:pPr>
        <a:defRPr sz="1050">
          <a:solidFill>
            <a:srgbClr val="64748B"/>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slides: what the paper proposed, what I built, what the runs measured, where the numbers diverge and why, and what the project does and does not establish.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Cora has 2,708 nodes across seven classes, the largest holding 818 nodes and the smallest 180, and only 3% of nodes are labelled for training. That is the imbalance the method is built for. HSKDM sits on top of GNN-INCM as an ensemble training scheme.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ablations were also implemented on Cora: no clustering loss, no reconstruction loss and no hard weights. A debug invariant rewrites every held-out label and checks the training objective is unchanged, so label leakage would be caught rather than assumed away.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 here deliberately shares INCM's architecture and hyperparameters for a controlled comparison, so it is not the paper's tuned GCN and the gain cannot be credited to ECO or GRO alone. Per-class scores show the same imbalance story: on Cora seed 42 class 2 reaches F1 0.894 while class 6 reaches recall 0.286 over 154 test nodes.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loss sits at roughly zero throughout training, which explains why removing it changes nothing. Fixed centres from an untrained encoder, row-normalised features and relatively strong weight decay against averaged losses are the leading suspects.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standard the project holds itself to: test sets stay untouched until the ambiguous settings are settled on validation data, and nothing gets relabelled as a successful exact replication.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A2A"/>
        </a:solidFill>
        <a:effectLst/>
      </p:bgPr>
    </p:bg>
    <p:spTree>
      <p:nvGrpSpPr>
        <p:cNvPr id="1" name=""/>
        <p:cNvGrpSpPr/>
        <p:nvPr/>
      </p:nvGrpSpPr>
      <p:grpSpPr/>
      <p:sp>
        <p:nvSpPr>
          <p:cNvPr id="2" name="TextBox 1"/>
          <p:cNvSpPr txBox="1"/>
          <p:nvPr/>
        </p:nvSpPr>
        <p:spPr>
          <a:xfrm>
            <a:off x="822960" y="1298448"/>
            <a:ext cx="6766560" cy="237744"/>
          </a:xfrm>
          <a:prstGeom prst="rect">
            <a:avLst/>
          </a:prstGeom>
          <a:noFill/>
        </p:spPr>
        <p:txBody>
          <a:bodyPr wrap="square" lIns="0" rIns="0" tIns="0" bIns="0" anchor="t">
            <a:noAutofit/>
          </a:bodyPr>
          <a:lstStyle/>
          <a:p>
            <a:pPr algn="l"/>
            <a:r>
              <a:rPr sz="1150" b="1" i="0">
                <a:solidFill>
                  <a:srgbClr val="D9A441"/>
                </a:solidFill>
                <a:latin typeface="Calibri"/>
              </a:rPr>
              <a:t>INDEPENDENT REPRODUCTION STUDY</a:t>
            </a:r>
          </a:p>
        </p:txBody>
      </p:sp>
      <p:sp>
        <p:nvSpPr>
          <p:cNvPr id="3" name="TextBox 2"/>
          <p:cNvSpPr txBox="1"/>
          <p:nvPr/>
        </p:nvSpPr>
        <p:spPr>
          <a:xfrm>
            <a:off x="822960" y="1627632"/>
            <a:ext cx="6766560" cy="914400"/>
          </a:xfrm>
          <a:prstGeom prst="rect">
            <a:avLst/>
          </a:prstGeom>
          <a:noFill/>
        </p:spPr>
        <p:txBody>
          <a:bodyPr wrap="square" lIns="0" rIns="0" tIns="0" bIns="0" anchor="t">
            <a:noAutofit/>
          </a:bodyPr>
          <a:lstStyle/>
          <a:p>
            <a:pPr algn="l"/>
            <a:r>
              <a:rPr sz="4600" b="1" i="0">
                <a:solidFill>
                  <a:srgbClr val="FFFFFF"/>
                </a:solidFill>
                <a:latin typeface="Cambria"/>
              </a:rPr>
              <a:t>Reproducing GNN-INCM</a:t>
            </a:r>
          </a:p>
        </p:txBody>
      </p:sp>
      <p:sp>
        <p:nvSpPr>
          <p:cNvPr id="4" name="TextBox 3"/>
          <p:cNvSpPr txBox="1"/>
          <p:nvPr/>
        </p:nvSpPr>
        <p:spPr>
          <a:xfrm>
            <a:off x="822960" y="2670048"/>
            <a:ext cx="6583680" cy="1005840"/>
          </a:xfrm>
          <a:prstGeom prst="rect">
            <a:avLst/>
          </a:prstGeom>
          <a:noFill/>
        </p:spPr>
        <p:txBody>
          <a:bodyPr wrap="square" lIns="0" rIns="0" tIns="0" bIns="0" anchor="t">
            <a:noAutofit/>
          </a:bodyPr>
          <a:lstStyle/>
          <a:p>
            <a:pPr algn="l">
              <a:lnSpc>
                <a:spcPct val="118000"/>
              </a:lnSpc>
            </a:pPr>
            <a:r>
              <a:rPr sz="1600" b="0" i="0">
                <a:solidFill>
                  <a:srgbClr val="A9BBCC"/>
                </a:solidFill>
                <a:latin typeface="Calibri"/>
              </a:rPr>
              <a:t>Node classification on class-imbalanced graph data — an independent reproduction of Huang, Tang &amp; Chen (2022), Knowledge-Based Systems 244, 108538</a:t>
            </a:r>
          </a:p>
        </p:txBody>
      </p:sp>
      <p:sp>
        <p:nvSpPr>
          <p:cNvPr id="5" name="Rounded Rectangle 4"/>
          <p:cNvSpPr/>
          <p:nvPr/>
        </p:nvSpPr>
        <p:spPr>
          <a:xfrm>
            <a:off x="822960" y="4069080"/>
            <a:ext cx="2057400" cy="960120"/>
          </a:xfrm>
          <a:prstGeom prst="roundRect">
            <a:avLst>
              <a:gd name="adj" fmla="val 7000"/>
            </a:avLst>
          </a:prstGeom>
          <a:solidFill>
            <a:srgbClr val="1E2B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1024128" y="4206240"/>
            <a:ext cx="1691640" cy="420624"/>
          </a:xfrm>
          <a:prstGeom prst="rect">
            <a:avLst/>
          </a:prstGeom>
          <a:noFill/>
        </p:spPr>
        <p:txBody>
          <a:bodyPr wrap="square" lIns="0" rIns="0" tIns="0" bIns="0" anchor="t">
            <a:noAutofit/>
          </a:bodyPr>
          <a:lstStyle/>
          <a:p>
            <a:pPr algn="l"/>
            <a:r>
              <a:rPr sz="2600" b="1" i="0">
                <a:solidFill>
                  <a:srgbClr val="D9A441"/>
                </a:solidFill>
                <a:latin typeface="Cambria"/>
              </a:rPr>
              <a:t>27</a:t>
            </a:r>
          </a:p>
        </p:txBody>
      </p:sp>
      <p:sp>
        <p:nvSpPr>
          <p:cNvPr id="7" name="TextBox 6"/>
          <p:cNvSpPr txBox="1"/>
          <p:nvPr/>
        </p:nvSpPr>
        <p:spPr>
          <a:xfrm>
            <a:off x="1024128" y="4645152"/>
            <a:ext cx="1691640" cy="237744"/>
          </a:xfrm>
          <a:prstGeom prst="rect">
            <a:avLst/>
          </a:prstGeom>
          <a:noFill/>
        </p:spPr>
        <p:txBody>
          <a:bodyPr wrap="square" lIns="0" rIns="0" tIns="0" bIns="0" anchor="t">
            <a:noAutofit/>
          </a:bodyPr>
          <a:lstStyle/>
          <a:p>
            <a:pPr algn="l"/>
            <a:r>
              <a:rPr sz="1150" b="0" i="0">
                <a:solidFill>
                  <a:srgbClr val="A9BBCC"/>
                </a:solidFill>
                <a:latin typeface="Calibri"/>
              </a:rPr>
              <a:t>completed runs</a:t>
            </a:r>
          </a:p>
        </p:txBody>
      </p:sp>
      <p:sp>
        <p:nvSpPr>
          <p:cNvPr id="8" name="Rounded Rectangle 7"/>
          <p:cNvSpPr/>
          <p:nvPr/>
        </p:nvSpPr>
        <p:spPr>
          <a:xfrm>
            <a:off x="3044952" y="4069080"/>
            <a:ext cx="2057400" cy="960120"/>
          </a:xfrm>
          <a:prstGeom prst="roundRect">
            <a:avLst>
              <a:gd name="adj" fmla="val 7000"/>
            </a:avLst>
          </a:prstGeom>
          <a:solidFill>
            <a:srgbClr val="1E2B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8"/>
          <p:cNvSpPr txBox="1"/>
          <p:nvPr/>
        </p:nvSpPr>
        <p:spPr>
          <a:xfrm>
            <a:off x="3246120" y="4206240"/>
            <a:ext cx="1691640" cy="420624"/>
          </a:xfrm>
          <a:prstGeom prst="rect">
            <a:avLst/>
          </a:prstGeom>
          <a:noFill/>
        </p:spPr>
        <p:txBody>
          <a:bodyPr wrap="square" lIns="0" rIns="0" tIns="0" bIns="0" anchor="t">
            <a:noAutofit/>
          </a:bodyPr>
          <a:lstStyle/>
          <a:p>
            <a:pPr algn="l"/>
            <a:r>
              <a:rPr sz="2600" b="1" i="0">
                <a:solidFill>
                  <a:srgbClr val="D9A441"/>
                </a:solidFill>
                <a:latin typeface="Cambria"/>
              </a:rPr>
              <a:t>3</a:t>
            </a:r>
          </a:p>
        </p:txBody>
      </p:sp>
      <p:sp>
        <p:nvSpPr>
          <p:cNvPr id="10" name="TextBox 9"/>
          <p:cNvSpPr txBox="1"/>
          <p:nvPr/>
        </p:nvSpPr>
        <p:spPr>
          <a:xfrm>
            <a:off x="3246120" y="4645152"/>
            <a:ext cx="1691640" cy="237744"/>
          </a:xfrm>
          <a:prstGeom prst="rect">
            <a:avLst/>
          </a:prstGeom>
          <a:noFill/>
        </p:spPr>
        <p:txBody>
          <a:bodyPr wrap="square" lIns="0" rIns="0" tIns="0" bIns="0" anchor="t">
            <a:noAutofit/>
          </a:bodyPr>
          <a:lstStyle/>
          <a:p>
            <a:pPr algn="l"/>
            <a:r>
              <a:rPr sz="1150" b="0" i="0">
                <a:solidFill>
                  <a:srgbClr val="A9BBCC"/>
                </a:solidFill>
                <a:latin typeface="Calibri"/>
              </a:rPr>
              <a:t>citation graphs</a:t>
            </a:r>
          </a:p>
        </p:txBody>
      </p:sp>
      <p:sp>
        <p:nvSpPr>
          <p:cNvPr id="11" name="Rounded Rectangle 10"/>
          <p:cNvSpPr/>
          <p:nvPr/>
        </p:nvSpPr>
        <p:spPr>
          <a:xfrm>
            <a:off x="5266944" y="4069080"/>
            <a:ext cx="2057400" cy="960120"/>
          </a:xfrm>
          <a:prstGeom prst="roundRect">
            <a:avLst>
              <a:gd name="adj" fmla="val 7000"/>
            </a:avLst>
          </a:prstGeom>
          <a:solidFill>
            <a:srgbClr val="1E2B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5468112" y="4206240"/>
            <a:ext cx="1691640" cy="420624"/>
          </a:xfrm>
          <a:prstGeom prst="rect">
            <a:avLst/>
          </a:prstGeom>
          <a:noFill/>
        </p:spPr>
        <p:txBody>
          <a:bodyPr wrap="square" lIns="0" rIns="0" tIns="0" bIns="0" anchor="t">
            <a:noAutofit/>
          </a:bodyPr>
          <a:lstStyle/>
          <a:p>
            <a:pPr algn="l"/>
            <a:r>
              <a:rPr sz="2600" b="1" i="0">
                <a:solidFill>
                  <a:srgbClr val="D9A441"/>
                </a:solidFill>
                <a:latin typeface="Cambria"/>
              </a:rPr>
              <a:t>5</a:t>
            </a:r>
          </a:p>
        </p:txBody>
      </p:sp>
      <p:sp>
        <p:nvSpPr>
          <p:cNvPr id="13" name="TextBox 12"/>
          <p:cNvSpPr txBox="1"/>
          <p:nvPr/>
        </p:nvSpPr>
        <p:spPr>
          <a:xfrm>
            <a:off x="5468112" y="4645152"/>
            <a:ext cx="1691640" cy="237744"/>
          </a:xfrm>
          <a:prstGeom prst="rect">
            <a:avLst/>
          </a:prstGeom>
          <a:noFill/>
        </p:spPr>
        <p:txBody>
          <a:bodyPr wrap="square" lIns="0" rIns="0" tIns="0" bIns="0" anchor="t">
            <a:noAutofit/>
          </a:bodyPr>
          <a:lstStyle/>
          <a:p>
            <a:pPr algn="l"/>
            <a:r>
              <a:rPr sz="1150" b="0" i="0">
                <a:solidFill>
                  <a:srgbClr val="A9BBCC"/>
                </a:solidFill>
                <a:latin typeface="Calibri"/>
              </a:rPr>
              <a:t>model configurations</a:t>
            </a:r>
          </a:p>
        </p:txBody>
      </p:sp>
      <p:sp>
        <p:nvSpPr>
          <p:cNvPr id="14" name="TextBox 13"/>
          <p:cNvSpPr txBox="1"/>
          <p:nvPr/>
        </p:nvSpPr>
        <p:spPr>
          <a:xfrm>
            <a:off x="822960" y="5760720"/>
            <a:ext cx="6583680" cy="457200"/>
          </a:xfrm>
          <a:prstGeom prst="rect">
            <a:avLst/>
          </a:prstGeom>
          <a:noFill/>
        </p:spPr>
        <p:txBody>
          <a:bodyPr wrap="square" lIns="0" rIns="0" tIns="0" bIns="0" anchor="t">
            <a:noAutofit/>
          </a:bodyPr>
          <a:lstStyle/>
          <a:p>
            <a:pPr algn="l">
              <a:lnSpc>
                <a:spcPct val="110000"/>
              </a:lnSpc>
            </a:pPr>
            <a:r>
              <a:rPr sz="1150" b="0" i="0">
                <a:solidFill>
                  <a:srgbClr val="7E90A4"/>
                </a:solidFill>
                <a:latin typeface="Calibri"/>
              </a:rPr>
              <a:t>Prepared independently, with AI assistance. The method and its published results belong to the paper's authors.</a:t>
            </a:r>
          </a:p>
        </p:txBody>
      </p:sp>
      <p:cxnSp>
        <p:nvCxnSpPr>
          <p:cNvPr id="15" name="Connector 14"/>
          <p:cNvCxnSpPr/>
          <p:nvPr/>
        </p:nvCxnSpPr>
        <p:spPr>
          <a:xfrm flipV="1">
            <a:off x="8549640" y="1700784"/>
            <a:ext cx="1161288" cy="356616"/>
          </a:xfrm>
          <a:prstGeom prst="line">
            <a:avLst/>
          </a:prstGeom>
          <a:ln w="12700">
            <a:solidFill>
              <a:srgbClr val="33455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8247888" y="2057400"/>
            <a:ext cx="301752" cy="1380744"/>
          </a:xfrm>
          <a:prstGeom prst="line">
            <a:avLst/>
          </a:prstGeom>
          <a:ln w="12700">
            <a:solidFill>
              <a:srgbClr val="33455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10928" y="1700784"/>
            <a:ext cx="1078992" cy="658368"/>
          </a:xfrm>
          <a:prstGeom prst="line">
            <a:avLst/>
          </a:prstGeom>
          <a:ln w="12700">
            <a:solidFill>
              <a:srgbClr val="33455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9509760" y="1700784"/>
            <a:ext cx="201168" cy="1280160"/>
          </a:xfrm>
          <a:prstGeom prst="line">
            <a:avLst/>
          </a:prstGeom>
          <a:ln w="12700">
            <a:solidFill>
              <a:srgbClr val="33455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533888" y="2359152"/>
            <a:ext cx="256032" cy="1371600"/>
          </a:xfrm>
          <a:prstGeom prst="line">
            <a:avLst/>
          </a:prstGeom>
          <a:ln w="12700">
            <a:solidFill>
              <a:srgbClr val="33455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8247888" y="2980944"/>
            <a:ext cx="1261872" cy="457200"/>
          </a:xfrm>
          <a:prstGeom prst="line">
            <a:avLst/>
          </a:prstGeom>
          <a:ln w="12700">
            <a:solidFill>
              <a:srgbClr val="33455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247888" y="3438144"/>
            <a:ext cx="694944" cy="1207008"/>
          </a:xfrm>
          <a:prstGeom prst="line">
            <a:avLst/>
          </a:prstGeom>
          <a:ln w="12700">
            <a:solidFill>
              <a:srgbClr val="33455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509760" y="2980944"/>
            <a:ext cx="1024128" cy="749808"/>
          </a:xfrm>
          <a:prstGeom prst="line">
            <a:avLst/>
          </a:prstGeom>
          <a:ln w="12700">
            <a:solidFill>
              <a:srgbClr val="33455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9217152" y="2980944"/>
            <a:ext cx="292608" cy="950976"/>
          </a:xfrm>
          <a:prstGeom prst="line">
            <a:avLst/>
          </a:prstGeom>
          <a:ln w="12700">
            <a:solidFill>
              <a:srgbClr val="33455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33888" y="3730752"/>
            <a:ext cx="640080" cy="713232"/>
          </a:xfrm>
          <a:prstGeom prst="line">
            <a:avLst/>
          </a:prstGeom>
          <a:ln w="12700">
            <a:solidFill>
              <a:srgbClr val="33455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8942832" y="3931920"/>
            <a:ext cx="274320" cy="713232"/>
          </a:xfrm>
          <a:prstGeom prst="line">
            <a:avLst/>
          </a:prstGeom>
          <a:ln w="12700">
            <a:solidFill>
              <a:srgbClr val="33455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942832" y="4645152"/>
            <a:ext cx="1133856" cy="274320"/>
          </a:xfrm>
          <a:prstGeom prst="line">
            <a:avLst/>
          </a:prstGeom>
          <a:ln w="12700">
            <a:solidFill>
              <a:srgbClr val="33455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0076688" y="4443984"/>
            <a:ext cx="1097280" cy="475488"/>
          </a:xfrm>
          <a:prstGeom prst="line">
            <a:avLst/>
          </a:prstGeom>
          <a:ln w="12700">
            <a:solidFill>
              <a:srgbClr val="33455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10076688" y="3730752"/>
            <a:ext cx="457200" cy="1188720"/>
          </a:xfrm>
          <a:prstGeom prst="line">
            <a:avLst/>
          </a:prstGeom>
          <a:ln w="12700">
            <a:solidFill>
              <a:srgbClr val="33455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9509760" y="2359152"/>
            <a:ext cx="1280160" cy="621792"/>
          </a:xfrm>
          <a:prstGeom prst="line">
            <a:avLst/>
          </a:prstGeom>
          <a:ln w="12700">
            <a:solidFill>
              <a:srgbClr val="33455F"/>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8298179" y="1805940"/>
            <a:ext cx="502920" cy="50292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31" name="Oval 30"/>
          <p:cNvSpPr/>
          <p:nvPr/>
        </p:nvSpPr>
        <p:spPr>
          <a:xfrm>
            <a:off x="9528048" y="1517904"/>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32" name="Oval 31"/>
          <p:cNvSpPr/>
          <p:nvPr/>
        </p:nvSpPr>
        <p:spPr>
          <a:xfrm>
            <a:off x="10561320" y="2130552"/>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33" name="Oval 32"/>
          <p:cNvSpPr/>
          <p:nvPr/>
        </p:nvSpPr>
        <p:spPr>
          <a:xfrm>
            <a:off x="7964423" y="3154679"/>
            <a:ext cx="566928" cy="56692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34" name="Oval 33"/>
          <p:cNvSpPr/>
          <p:nvPr/>
        </p:nvSpPr>
        <p:spPr>
          <a:xfrm>
            <a:off x="9354312" y="2825496"/>
            <a:ext cx="310896" cy="310896"/>
          </a:xfrm>
          <a:prstGeom prst="ellipse">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35" name="Oval 34"/>
          <p:cNvSpPr/>
          <p:nvPr/>
        </p:nvSpPr>
        <p:spPr>
          <a:xfrm>
            <a:off x="10332719" y="3529584"/>
            <a:ext cx="402336" cy="402336"/>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36" name="Oval 35"/>
          <p:cNvSpPr/>
          <p:nvPr/>
        </p:nvSpPr>
        <p:spPr>
          <a:xfrm>
            <a:off x="8805672" y="4507992"/>
            <a:ext cx="274320" cy="274320"/>
          </a:xfrm>
          <a:prstGeom prst="ellipse">
            <a:avLst/>
          </a:prstGeom>
          <a:solidFill>
            <a:srgbClr val="C45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37" name="Oval 36"/>
          <p:cNvSpPr/>
          <p:nvPr/>
        </p:nvSpPr>
        <p:spPr>
          <a:xfrm>
            <a:off x="9957815" y="4800600"/>
            <a:ext cx="237744" cy="237744"/>
          </a:xfrm>
          <a:prstGeom prst="ellipse">
            <a:avLst/>
          </a:prstGeom>
          <a:solidFill>
            <a:srgbClr val="C45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38" name="Oval 37"/>
          <p:cNvSpPr/>
          <p:nvPr/>
        </p:nvSpPr>
        <p:spPr>
          <a:xfrm>
            <a:off x="11000232" y="4270248"/>
            <a:ext cx="347472" cy="347472"/>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39" name="Oval 38"/>
          <p:cNvSpPr/>
          <p:nvPr/>
        </p:nvSpPr>
        <p:spPr>
          <a:xfrm>
            <a:off x="9116568" y="3831335"/>
            <a:ext cx="201168" cy="201168"/>
          </a:xfrm>
          <a:prstGeom prst="ellipse">
            <a:avLst/>
          </a:prstGeom>
          <a:solidFill>
            <a:srgbClr val="C45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40" name="TextBox 39"/>
          <p:cNvSpPr txBox="1"/>
          <p:nvPr/>
        </p:nvSpPr>
        <p:spPr>
          <a:xfrm>
            <a:off x="7955279" y="5760720"/>
            <a:ext cx="3657600" cy="457200"/>
          </a:xfrm>
          <a:prstGeom prst="rect">
            <a:avLst/>
          </a:prstGeom>
          <a:noFill/>
        </p:spPr>
        <p:txBody>
          <a:bodyPr wrap="square" lIns="0" rIns="0" tIns="0" bIns="0" anchor="t">
            <a:noAutofit/>
          </a:bodyPr>
          <a:lstStyle/>
          <a:p>
            <a:pPr algn="l">
              <a:lnSpc>
                <a:spcPct val="110000"/>
              </a:lnSpc>
            </a:pPr>
            <a:r>
              <a:rPr sz="1100" b="0" i="1">
                <a:solidFill>
                  <a:srgbClr val="7E90A4"/>
                </a:solidFill>
                <a:latin typeface="Calibri"/>
              </a:rPr>
              <a:t>One citation graph: a few large classes, a long tail of small ones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10820095" cy="219456"/>
          </a:xfrm>
          <a:prstGeom prst="rect">
            <a:avLst/>
          </a:prstGeom>
          <a:noFill/>
        </p:spPr>
        <p:txBody>
          <a:bodyPr wrap="square" lIns="0" rIns="0" tIns="0" bIns="0" anchor="t">
            <a:noAutofit/>
          </a:bodyPr>
          <a:lstStyle/>
          <a:p>
            <a:pPr algn="l"/>
            <a:r>
              <a:rPr sz="1100" b="1" i="0">
                <a:solidFill>
                  <a:srgbClr val="1C7293"/>
                </a:solidFill>
                <a:latin typeface="Calibri"/>
              </a:rPr>
              <a:t>THE ORIGINAL RESEARCH</a:t>
            </a:r>
          </a:p>
        </p:txBody>
      </p:sp>
      <p:sp>
        <p:nvSpPr>
          <p:cNvPr id="3" name="TextBox 2"/>
          <p:cNvSpPr txBox="1"/>
          <p:nvPr/>
        </p:nvSpPr>
        <p:spPr>
          <a:xfrm>
            <a:off x="685800" y="713232"/>
            <a:ext cx="10820095" cy="566928"/>
          </a:xfrm>
          <a:prstGeom prst="rect">
            <a:avLst/>
          </a:prstGeom>
          <a:noFill/>
        </p:spPr>
        <p:txBody>
          <a:bodyPr wrap="square" lIns="0" rIns="0" tIns="0" bIns="0" anchor="t">
            <a:noAutofit/>
          </a:bodyPr>
          <a:lstStyle/>
          <a:p>
            <a:pPr algn="l"/>
            <a:r>
              <a:rPr sz="3200" b="1" i="0">
                <a:solidFill>
                  <a:srgbClr val="121A2A"/>
                </a:solidFill>
                <a:latin typeface="Cambria"/>
              </a:rPr>
              <a:t>What the paper proposed</a:t>
            </a:r>
          </a:p>
        </p:txBody>
      </p:sp>
      <p:sp>
        <p:nvSpPr>
          <p:cNvPr id="4" name="TextBox 3"/>
          <p:cNvSpPr txBox="1"/>
          <p:nvPr/>
        </p:nvSpPr>
        <p:spPr>
          <a:xfrm>
            <a:off x="685800" y="1371600"/>
            <a:ext cx="10817352" cy="566928"/>
          </a:xfrm>
          <a:prstGeom prst="rect">
            <a:avLst/>
          </a:prstGeom>
          <a:noFill/>
        </p:spPr>
        <p:txBody>
          <a:bodyPr wrap="square" lIns="0" rIns="0" tIns="0" bIns="0" anchor="t">
            <a:noAutofit/>
          </a:bodyPr>
          <a:lstStyle/>
          <a:p>
            <a:pPr algn="l">
              <a:lnSpc>
                <a:spcPct val="112000"/>
              </a:lnSpc>
            </a:pPr>
            <a:r>
              <a:rPr sz="1450" b="0" i="0">
                <a:solidFill>
                  <a:srgbClr val="64748B"/>
                </a:solidFill>
                <a:latin typeface="Calibri"/>
              </a:rPr>
              <a:t>Huang, Tang and Chen target node classification when labels are scarce and classes are uneven: on a citation graph a model can post high overall accuracy while barely recognising the smallest classes. Their GNN-INCM wraps four ideas around one shared GCN encoder.</a:t>
            </a:r>
          </a:p>
        </p:txBody>
      </p:sp>
      <p:sp>
        <p:nvSpPr>
          <p:cNvPr id="5" name="TextBox 4"/>
          <p:cNvSpPr txBox="1"/>
          <p:nvPr/>
        </p:nvSpPr>
        <p:spPr>
          <a:xfrm>
            <a:off x="685800" y="2103120"/>
            <a:ext cx="5852160" cy="237744"/>
          </a:xfrm>
          <a:prstGeom prst="rect">
            <a:avLst/>
          </a:prstGeom>
          <a:noFill/>
        </p:spPr>
        <p:txBody>
          <a:bodyPr wrap="square" lIns="0" rIns="0" tIns="0" bIns="0" anchor="t">
            <a:noAutofit/>
          </a:bodyPr>
          <a:lstStyle/>
          <a:p>
            <a:pPr algn="l"/>
            <a:r>
              <a:rPr sz="1050" b="1" i="0">
                <a:solidFill>
                  <a:srgbClr val="1C7293"/>
                </a:solidFill>
                <a:latin typeface="Calibri"/>
              </a:rPr>
              <a:t>THE FOUR COMPONENTS</a:t>
            </a:r>
          </a:p>
        </p:txBody>
      </p:sp>
      <p:sp>
        <p:nvSpPr>
          <p:cNvPr id="6" name="Oval 5"/>
          <p:cNvSpPr/>
          <p:nvPr/>
        </p:nvSpPr>
        <p:spPr>
          <a:xfrm>
            <a:off x="685800" y="2485136"/>
            <a:ext cx="91440" cy="9144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7" name="TextBox 6"/>
          <p:cNvSpPr txBox="1"/>
          <p:nvPr/>
        </p:nvSpPr>
        <p:spPr>
          <a:xfrm>
            <a:off x="960120" y="2432304"/>
            <a:ext cx="5715000" cy="448563"/>
          </a:xfrm>
          <a:prstGeom prst="rect">
            <a:avLst/>
          </a:prstGeom>
          <a:noFill/>
        </p:spPr>
        <p:txBody>
          <a:bodyPr wrap="square" lIns="0" rIns="0" tIns="0" bIns="0" anchor="t">
            <a:noAutofit/>
          </a:bodyPr>
          <a:lstStyle/>
          <a:p>
            <a:pPr algn="l">
              <a:lnSpc>
                <a:spcPct val="100000"/>
              </a:lnSpc>
            </a:pPr>
            <a:r>
              <a:rPr sz="1300" b="1" i="0">
                <a:solidFill>
                  <a:srgbClr val="121A2A"/>
                </a:solidFill>
                <a:latin typeface="Calibri"/>
              </a:rPr>
              <a:t>ECO — embedding clustering. </a:t>
            </a:r>
            <a:r>
              <a:rPr sz="1300" b="0" i="0">
                <a:solidFill>
                  <a:srgbClr val="64748B"/>
                </a:solidFill>
                <a:latin typeface="Calibri"/>
              </a:rPr>
              <a:t>Class-balanced cross-entropy plus a Student-t clustering term that pulls embeddings towards cluster centres.</a:t>
            </a:r>
          </a:p>
        </p:txBody>
      </p:sp>
      <p:sp>
        <p:nvSpPr>
          <p:cNvPr id="8" name="Oval 7"/>
          <p:cNvSpPr/>
          <p:nvPr/>
        </p:nvSpPr>
        <p:spPr>
          <a:xfrm>
            <a:off x="685800" y="3107436"/>
            <a:ext cx="91440" cy="9144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9" name="TextBox 8"/>
          <p:cNvSpPr txBox="1"/>
          <p:nvPr/>
        </p:nvSpPr>
        <p:spPr>
          <a:xfrm>
            <a:off x="960120" y="3054604"/>
            <a:ext cx="5715000" cy="448563"/>
          </a:xfrm>
          <a:prstGeom prst="rect">
            <a:avLst/>
          </a:prstGeom>
          <a:noFill/>
        </p:spPr>
        <p:txBody>
          <a:bodyPr wrap="square" lIns="0" rIns="0" tIns="0" bIns="0" anchor="t">
            <a:noAutofit/>
          </a:bodyPr>
          <a:lstStyle/>
          <a:p>
            <a:pPr algn="l">
              <a:lnSpc>
                <a:spcPct val="100000"/>
              </a:lnSpc>
            </a:pPr>
            <a:r>
              <a:rPr sz="1300" b="1" i="0">
                <a:solidFill>
                  <a:srgbClr val="121A2A"/>
                </a:solidFill>
                <a:latin typeface="Calibri"/>
              </a:rPr>
              <a:t>GRO — graph reconstruction. </a:t>
            </a:r>
            <a:r>
              <a:rPr sz="1300" b="0" i="0">
                <a:solidFill>
                  <a:srgbClr val="64748B"/>
                </a:solidFill>
                <a:latin typeface="Calibri"/>
              </a:rPr>
              <a:t>An inner-product decoder rebuilds the adjacency, so the embedding must preserve graph structure.</a:t>
            </a:r>
          </a:p>
        </p:txBody>
      </p:sp>
      <p:sp>
        <p:nvSpPr>
          <p:cNvPr id="10" name="Oval 9"/>
          <p:cNvSpPr/>
          <p:nvPr/>
        </p:nvSpPr>
        <p:spPr>
          <a:xfrm>
            <a:off x="685800" y="3729736"/>
            <a:ext cx="91440" cy="9144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11" name="TextBox 10"/>
          <p:cNvSpPr txBox="1"/>
          <p:nvPr/>
        </p:nvSpPr>
        <p:spPr>
          <a:xfrm>
            <a:off x="960120" y="3676904"/>
            <a:ext cx="5715000" cy="448563"/>
          </a:xfrm>
          <a:prstGeom prst="rect">
            <a:avLst/>
          </a:prstGeom>
          <a:noFill/>
        </p:spPr>
        <p:txBody>
          <a:bodyPr wrap="square" lIns="0" rIns="0" tIns="0" bIns="0" anchor="t">
            <a:noAutofit/>
          </a:bodyPr>
          <a:lstStyle/>
          <a:p>
            <a:pPr algn="l">
              <a:lnSpc>
                <a:spcPct val="100000"/>
              </a:lnSpc>
            </a:pPr>
            <a:r>
              <a:rPr sz="1300" b="1" i="0">
                <a:solidFill>
                  <a:srgbClr val="121A2A"/>
                </a:solidFill>
                <a:latin typeface="Calibri"/>
              </a:rPr>
              <a:t>Hard-sample weighting. </a:t>
            </a:r>
            <a:r>
              <a:rPr sz="1300" b="0" i="0">
                <a:solidFill>
                  <a:srgbClr val="64748B"/>
                </a:solidFill>
                <a:latin typeface="Calibri"/>
              </a:rPr>
              <a:t>A per-node weight grows when a node's two cluster assignments disagree, and multiplies every loss term.</a:t>
            </a:r>
          </a:p>
        </p:txBody>
      </p:sp>
      <p:sp>
        <p:nvSpPr>
          <p:cNvPr id="12" name="Oval 11"/>
          <p:cNvSpPr/>
          <p:nvPr/>
        </p:nvSpPr>
        <p:spPr>
          <a:xfrm>
            <a:off x="685800" y="4352036"/>
            <a:ext cx="91440" cy="9144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13" name="TextBox 12"/>
          <p:cNvSpPr txBox="1"/>
          <p:nvPr/>
        </p:nvSpPr>
        <p:spPr>
          <a:xfrm>
            <a:off x="960120" y="4299204"/>
            <a:ext cx="5715000" cy="448563"/>
          </a:xfrm>
          <a:prstGeom prst="rect">
            <a:avLst/>
          </a:prstGeom>
          <a:noFill/>
        </p:spPr>
        <p:txBody>
          <a:bodyPr wrap="square" lIns="0" rIns="0" tIns="0" bIns="0" anchor="t">
            <a:noAutofit/>
          </a:bodyPr>
          <a:lstStyle/>
          <a:p>
            <a:pPr algn="l">
              <a:lnSpc>
                <a:spcPct val="100000"/>
              </a:lnSpc>
            </a:pPr>
            <a:r>
              <a:rPr sz="1300" b="1" i="0">
                <a:solidFill>
                  <a:srgbClr val="121A2A"/>
                </a:solidFill>
                <a:latin typeface="Calibri"/>
              </a:rPr>
              <a:t>HSKDM — mutual distillation. </a:t>
            </a:r>
            <a:r>
              <a:rPr sz="1300" b="0" i="0">
                <a:solidFill>
                  <a:srgbClr val="64748B"/>
                </a:solidFill>
                <a:latin typeface="Calibri"/>
              </a:rPr>
              <a:t>Several INCM networks teach each other through weighted KL and triplet alignment, then vote.</a:t>
            </a:r>
          </a:p>
        </p:txBody>
      </p:sp>
      <p:sp>
        <p:nvSpPr>
          <p:cNvPr id="14" name="Rounded Rectangle 13"/>
          <p:cNvSpPr/>
          <p:nvPr/>
        </p:nvSpPr>
        <p:spPr>
          <a:xfrm>
            <a:off x="6967728" y="2103120"/>
            <a:ext cx="4535424" cy="3035808"/>
          </a:xfrm>
          <a:prstGeom prst="roundRect">
            <a:avLst>
              <a:gd name="adj" fmla="val 7000"/>
            </a:avLst>
          </a:prstGeom>
          <a:solidFill>
            <a:srgbClr val="ED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7260336" y="2322576"/>
            <a:ext cx="4023360" cy="237744"/>
          </a:xfrm>
          <a:prstGeom prst="rect">
            <a:avLst/>
          </a:prstGeom>
          <a:noFill/>
        </p:spPr>
        <p:txBody>
          <a:bodyPr wrap="square" lIns="0" rIns="0" tIns="0" bIns="0" anchor="t">
            <a:noAutofit/>
          </a:bodyPr>
          <a:lstStyle/>
          <a:p>
            <a:pPr algn="l"/>
            <a:r>
              <a:rPr sz="1050" b="1" i="0">
                <a:solidFill>
                  <a:srgbClr val="1C7293"/>
                </a:solidFill>
                <a:latin typeface="Calibri"/>
              </a:rPr>
              <a:t>REPORTED IN THE PAPER (TABLE 2)</a:t>
            </a:r>
          </a:p>
        </p:txBody>
      </p:sp>
      <p:graphicFrame>
        <p:nvGraphicFramePr>
          <p:cNvPr id="16" name="Table 15"/>
          <p:cNvGraphicFramePr>
            <a:graphicFrameLocks noGrp="1"/>
          </p:cNvGraphicFramePr>
          <p:nvPr/>
        </p:nvGraphicFramePr>
        <p:xfrm>
          <a:off x="7260336" y="2633472"/>
          <a:ext cx="3950208" cy="1389888"/>
        </p:xfrm>
        <a:graphic>
          <a:graphicData uri="http://schemas.openxmlformats.org/drawingml/2006/table">
            <a:tbl>
              <a:tblPr>
                <a:tableStyleId>{5C22544A-7EE6-4342-B048-85BDC9FD1C3A}</a:tableStyleId>
              </a:tblPr>
              <a:tblGrid>
                <a:gridCol w="1755648"/>
                <a:gridCol w="1097280"/>
                <a:gridCol w="1097280"/>
              </a:tblGrid>
              <a:tr h="347472">
                <a:tc>
                  <a:txBody>
                    <a:bodyPr/>
                    <a:lstStyle/>
                    <a:p>
                      <a:pPr algn="l"/>
                      <a:r>
                        <a:rPr sz="1150" b="1">
                          <a:solidFill>
                            <a:srgbClr val="FFFFFF"/>
                          </a:solidFill>
                          <a:latin typeface="Calibri"/>
                        </a:rPr>
                        <a:t>Dataset</a:t>
                      </a:r>
                    </a:p>
                  </a:txBody>
                  <a:tcPr marL="109728" marR="109728" anchor="ctr">
                    <a:solidFill>
                      <a:srgbClr val="121A2A"/>
                    </a:solidFill>
                  </a:tcPr>
                </a:tc>
                <a:tc>
                  <a:txBody>
                    <a:bodyPr/>
                    <a:lstStyle/>
                    <a:p>
                      <a:pPr algn="r"/>
                      <a:r>
                        <a:rPr sz="1150" b="1">
                          <a:solidFill>
                            <a:srgbClr val="FFFFFF"/>
                          </a:solidFill>
                          <a:latin typeface="Calibri"/>
                        </a:rPr>
                        <a:t>F1</a:t>
                      </a:r>
                    </a:p>
                  </a:txBody>
                  <a:tcPr marL="109728" marR="109728" anchor="ctr">
                    <a:solidFill>
                      <a:srgbClr val="121A2A"/>
                    </a:solidFill>
                  </a:tcPr>
                </a:tc>
                <a:tc>
                  <a:txBody>
                    <a:bodyPr/>
                    <a:lstStyle/>
                    <a:p>
                      <a:pPr algn="r"/>
                      <a:r>
                        <a:rPr sz="1150" b="1">
                          <a:solidFill>
                            <a:srgbClr val="FFFFFF"/>
                          </a:solidFill>
                          <a:latin typeface="Calibri"/>
                        </a:rPr>
                        <a:t>MCC</a:t>
                      </a:r>
                    </a:p>
                  </a:txBody>
                  <a:tcPr marL="109728" marR="109728" anchor="ctr">
                    <a:solidFill>
                      <a:srgbClr val="121A2A"/>
                    </a:solidFill>
                  </a:tcPr>
                </a:tc>
              </a:tr>
              <a:tr h="347472">
                <a:tc>
                  <a:txBody>
                    <a:bodyPr/>
                    <a:lstStyle/>
                    <a:p>
                      <a:pPr algn="l"/>
                      <a:r>
                        <a:rPr sz="1250" b="1">
                          <a:solidFill>
                            <a:srgbClr val="121A2A"/>
                          </a:solidFill>
                          <a:latin typeface="Calibri"/>
                        </a:rPr>
                        <a:t>Cora</a:t>
                      </a:r>
                    </a:p>
                  </a:txBody>
                  <a:tcPr marL="109728" marR="109728" anchor="ctr">
                    <a:solidFill>
                      <a:srgbClr val="FFFFFF"/>
                    </a:solidFill>
                  </a:tcPr>
                </a:tc>
                <a:tc>
                  <a:txBody>
                    <a:bodyPr/>
                    <a:lstStyle/>
                    <a:p>
                      <a:pPr algn="r"/>
                      <a:r>
                        <a:rPr sz="1250" b="0">
                          <a:solidFill>
                            <a:srgbClr val="64748B"/>
                          </a:solidFill>
                          <a:latin typeface="Calibri"/>
                        </a:rPr>
                        <a:t>0.751</a:t>
                      </a:r>
                    </a:p>
                  </a:txBody>
                  <a:tcPr marL="109728" marR="109728" anchor="ctr">
                    <a:solidFill>
                      <a:srgbClr val="FFFFFF"/>
                    </a:solidFill>
                  </a:tcPr>
                </a:tc>
                <a:tc>
                  <a:txBody>
                    <a:bodyPr/>
                    <a:lstStyle/>
                    <a:p>
                      <a:pPr algn="r"/>
                      <a:r>
                        <a:rPr sz="1250" b="0">
                          <a:solidFill>
                            <a:srgbClr val="64748B"/>
                          </a:solidFill>
                          <a:latin typeface="Calibri"/>
                        </a:rPr>
                        <a:t>0.724</a:t>
                      </a:r>
                    </a:p>
                  </a:txBody>
                  <a:tcPr marL="109728" marR="109728" anchor="ctr">
                    <a:solidFill>
                      <a:srgbClr val="FFFFFF"/>
                    </a:solidFill>
                  </a:tcPr>
                </a:tc>
              </a:tr>
              <a:tr h="347472">
                <a:tc>
                  <a:txBody>
                    <a:bodyPr/>
                    <a:lstStyle/>
                    <a:p>
                      <a:pPr algn="l"/>
                      <a:r>
                        <a:rPr sz="1250" b="1">
                          <a:solidFill>
                            <a:srgbClr val="121A2A"/>
                          </a:solidFill>
                          <a:latin typeface="Calibri"/>
                        </a:rPr>
                        <a:t>CiteSeer</a:t>
                      </a:r>
                    </a:p>
                  </a:txBody>
                  <a:tcPr marL="109728" marR="109728" anchor="ctr">
                    <a:solidFill>
                      <a:srgbClr val="FFFFFF"/>
                    </a:solidFill>
                  </a:tcPr>
                </a:tc>
                <a:tc>
                  <a:txBody>
                    <a:bodyPr/>
                    <a:lstStyle/>
                    <a:p>
                      <a:pPr algn="r"/>
                      <a:r>
                        <a:rPr sz="1250" b="0">
                          <a:solidFill>
                            <a:srgbClr val="64748B"/>
                          </a:solidFill>
                          <a:latin typeface="Calibri"/>
                        </a:rPr>
                        <a:t>0.649</a:t>
                      </a:r>
                    </a:p>
                  </a:txBody>
                  <a:tcPr marL="109728" marR="109728" anchor="ctr">
                    <a:solidFill>
                      <a:srgbClr val="FFFFFF"/>
                    </a:solidFill>
                  </a:tcPr>
                </a:tc>
                <a:tc>
                  <a:txBody>
                    <a:bodyPr/>
                    <a:lstStyle/>
                    <a:p>
                      <a:pPr algn="r"/>
                      <a:r>
                        <a:rPr sz="1250" b="0">
                          <a:solidFill>
                            <a:srgbClr val="64748B"/>
                          </a:solidFill>
                          <a:latin typeface="Calibri"/>
                        </a:rPr>
                        <a:t>0.627</a:t>
                      </a:r>
                    </a:p>
                  </a:txBody>
                  <a:tcPr marL="109728" marR="109728" anchor="ctr">
                    <a:solidFill>
                      <a:srgbClr val="FFFFFF"/>
                    </a:solidFill>
                  </a:tcPr>
                </a:tc>
              </a:tr>
              <a:tr h="347472">
                <a:tc>
                  <a:txBody>
                    <a:bodyPr/>
                    <a:lstStyle/>
                    <a:p>
                      <a:pPr algn="l"/>
                      <a:r>
                        <a:rPr sz="1250" b="1">
                          <a:solidFill>
                            <a:srgbClr val="121A2A"/>
                          </a:solidFill>
                          <a:latin typeface="Calibri"/>
                        </a:rPr>
                        <a:t>PubMed</a:t>
                      </a:r>
                    </a:p>
                  </a:txBody>
                  <a:tcPr marL="109728" marR="109728" anchor="ctr">
                    <a:solidFill>
                      <a:srgbClr val="FFFFFF"/>
                    </a:solidFill>
                  </a:tcPr>
                </a:tc>
                <a:tc>
                  <a:txBody>
                    <a:bodyPr/>
                    <a:lstStyle/>
                    <a:p>
                      <a:pPr algn="r"/>
                      <a:r>
                        <a:rPr sz="1250" b="0">
                          <a:solidFill>
                            <a:srgbClr val="64748B"/>
                          </a:solidFill>
                          <a:latin typeface="Calibri"/>
                        </a:rPr>
                        <a:t>0.770</a:t>
                      </a:r>
                    </a:p>
                  </a:txBody>
                  <a:tcPr marL="109728" marR="109728" anchor="ctr">
                    <a:solidFill>
                      <a:srgbClr val="FFFFFF"/>
                    </a:solidFill>
                  </a:tcPr>
                </a:tc>
                <a:tc>
                  <a:txBody>
                    <a:bodyPr/>
                    <a:lstStyle/>
                    <a:p>
                      <a:pPr algn="r"/>
                      <a:r>
                        <a:rPr sz="1250" b="0">
                          <a:solidFill>
                            <a:srgbClr val="64748B"/>
                          </a:solidFill>
                          <a:latin typeface="Calibri"/>
                        </a:rPr>
                        <a:t>0.649</a:t>
                      </a:r>
                    </a:p>
                  </a:txBody>
                  <a:tcPr marL="109728" marR="109728" anchor="ctr">
                    <a:solidFill>
                      <a:srgbClr val="FFFFFF"/>
                    </a:solidFill>
                  </a:tcPr>
                </a:tc>
              </a:tr>
            </a:tbl>
          </a:graphicData>
        </a:graphic>
      </p:graphicFrame>
      <p:sp>
        <p:nvSpPr>
          <p:cNvPr id="17" name="TextBox 16"/>
          <p:cNvSpPr txBox="1"/>
          <p:nvPr/>
        </p:nvSpPr>
        <p:spPr>
          <a:xfrm>
            <a:off x="7260336" y="4169663"/>
            <a:ext cx="3950208" cy="786384"/>
          </a:xfrm>
          <a:prstGeom prst="rect">
            <a:avLst/>
          </a:prstGeom>
          <a:noFill/>
        </p:spPr>
        <p:txBody>
          <a:bodyPr wrap="square" lIns="0" rIns="0" tIns="0" bIns="0" anchor="t">
            <a:noAutofit/>
          </a:bodyPr>
          <a:lstStyle/>
          <a:p>
            <a:pPr algn="l">
              <a:lnSpc>
                <a:spcPct val="110000"/>
              </a:lnSpc>
            </a:pPr>
            <a:r>
              <a:rPr sz="1200" b="0" i="0">
                <a:solidFill>
                  <a:srgbClr val="64748B"/>
                </a:solidFill>
                <a:latin typeface="Calibri"/>
              </a:rPr>
              <a:t>GNN-INCM, mean over ten GPU trials. Their GCN baseline scores 0.686 on Cora, and each ablation they report loses a little accuracy — every component is said to help.</a:t>
            </a:r>
          </a:p>
        </p:txBody>
      </p:sp>
      <p:sp>
        <p:nvSpPr>
          <p:cNvPr id="18" name="TextBox 17"/>
          <p:cNvSpPr txBox="1"/>
          <p:nvPr/>
        </p:nvSpPr>
        <p:spPr>
          <a:xfrm>
            <a:off x="685800" y="5358384"/>
            <a:ext cx="10820095" cy="457200"/>
          </a:xfrm>
          <a:prstGeom prst="rect">
            <a:avLst/>
          </a:prstGeom>
          <a:noFill/>
        </p:spPr>
        <p:txBody>
          <a:bodyPr wrap="square" lIns="0" rIns="0" tIns="0" bIns="0" anchor="t">
            <a:noAutofit/>
          </a:bodyPr>
          <a:lstStyle/>
          <a:p>
            <a:pPr algn="l">
              <a:lnSpc>
                <a:spcPct val="112000"/>
              </a:lnSpc>
            </a:pPr>
            <a:r>
              <a:rPr sz="1200" b="0" i="1">
                <a:solidFill>
                  <a:srgbClr val="64748B"/>
                </a:solidFill>
                <a:latin typeface="Calibri"/>
              </a:rPr>
              <a:t>The paper gives binary F1 and MCC formulas on multiclass data without naming the averaging convention, and the authors' linked code repository returned HTTP 404 — so several implementation details had to be decided here.</a:t>
            </a:r>
          </a:p>
        </p:txBody>
      </p:sp>
      <p:sp>
        <p:nvSpPr>
          <p:cNvPr id="19" name="TextBox 18"/>
          <p:cNvSpPr txBox="1"/>
          <p:nvPr/>
        </p:nvSpPr>
        <p:spPr>
          <a:xfrm>
            <a:off x="685800" y="6400800"/>
            <a:ext cx="7315200" cy="201168"/>
          </a:xfrm>
          <a:prstGeom prst="rect">
            <a:avLst/>
          </a:prstGeom>
          <a:noFill/>
        </p:spPr>
        <p:txBody>
          <a:bodyPr wrap="square" lIns="0" rIns="0" tIns="0" bIns="0" anchor="t">
            <a:noAutofit/>
          </a:bodyPr>
          <a:lstStyle/>
          <a:p>
            <a:pPr algn="l"/>
            <a:r>
              <a:rPr sz="900" b="0" i="0">
                <a:solidFill>
                  <a:srgbClr val="64748B"/>
                </a:solidFill>
                <a:latin typeface="Calibri"/>
              </a:rPr>
              <a:t>GNN-INCM replication  |  Huang, Tang &amp; Chen (2022), Knowledge-Based Systems 244, 108538</a:t>
            </a:r>
          </a:p>
        </p:txBody>
      </p:sp>
      <p:sp>
        <p:nvSpPr>
          <p:cNvPr id="20" name="TextBox 19"/>
          <p:cNvSpPr txBox="1"/>
          <p:nvPr/>
        </p:nvSpPr>
        <p:spPr>
          <a:xfrm>
            <a:off x="10591495" y="6400800"/>
            <a:ext cx="914400" cy="201168"/>
          </a:xfrm>
          <a:prstGeom prst="rect">
            <a:avLst/>
          </a:prstGeom>
          <a:noFill/>
        </p:spPr>
        <p:txBody>
          <a:bodyPr wrap="square" lIns="0" rIns="0" tIns="0" bIns="0" anchor="t">
            <a:noAutofit/>
          </a:bodyPr>
          <a:lstStyle/>
          <a:p>
            <a:pPr algn="r"/>
            <a:r>
              <a:rPr sz="900" b="0" i="0">
                <a:solidFill>
                  <a:srgbClr val="64748B"/>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10820095" cy="219456"/>
          </a:xfrm>
          <a:prstGeom prst="rect">
            <a:avLst/>
          </a:prstGeom>
          <a:noFill/>
        </p:spPr>
        <p:txBody>
          <a:bodyPr wrap="square" lIns="0" rIns="0" tIns="0" bIns="0" anchor="t">
            <a:noAutofit/>
          </a:bodyPr>
          <a:lstStyle/>
          <a:p>
            <a:pPr algn="l"/>
            <a:r>
              <a:rPr sz="1100" b="1" i="0">
                <a:solidFill>
                  <a:srgbClr val="1C7293"/>
                </a:solidFill>
                <a:latin typeface="Calibri"/>
              </a:rPr>
              <a:t>THIS REPRODUCTION</a:t>
            </a:r>
          </a:p>
        </p:txBody>
      </p:sp>
      <p:sp>
        <p:nvSpPr>
          <p:cNvPr id="3" name="TextBox 2"/>
          <p:cNvSpPr txBox="1"/>
          <p:nvPr/>
        </p:nvSpPr>
        <p:spPr>
          <a:xfrm>
            <a:off x="685800" y="713232"/>
            <a:ext cx="10820095" cy="566928"/>
          </a:xfrm>
          <a:prstGeom prst="rect">
            <a:avLst/>
          </a:prstGeom>
          <a:noFill/>
        </p:spPr>
        <p:txBody>
          <a:bodyPr wrap="square" lIns="0" rIns="0" tIns="0" bIns="0" anchor="t">
            <a:noAutofit/>
          </a:bodyPr>
          <a:lstStyle/>
          <a:p>
            <a:pPr algn="l"/>
            <a:r>
              <a:rPr sz="3200" b="1" i="0">
                <a:solidFill>
                  <a:srgbClr val="121A2A"/>
                </a:solidFill>
                <a:latin typeface="Cambria"/>
              </a:rPr>
              <a:t>What I built</a:t>
            </a:r>
          </a:p>
        </p:txBody>
      </p:sp>
      <p:sp>
        <p:nvSpPr>
          <p:cNvPr id="4" name="TextBox 3"/>
          <p:cNvSpPr txBox="1"/>
          <p:nvPr/>
        </p:nvSpPr>
        <p:spPr>
          <a:xfrm>
            <a:off x="685800" y="1335024"/>
            <a:ext cx="10817352" cy="548640"/>
          </a:xfrm>
          <a:prstGeom prst="rect">
            <a:avLst/>
          </a:prstGeom>
          <a:noFill/>
        </p:spPr>
        <p:txBody>
          <a:bodyPr wrap="square" lIns="0" rIns="0" tIns="0" bIns="0" anchor="t">
            <a:noAutofit/>
          </a:bodyPr>
          <a:lstStyle/>
          <a:p>
            <a:pPr algn="l">
              <a:lnSpc>
                <a:spcPct val="112000"/>
              </a:lnSpc>
            </a:pPr>
            <a:r>
              <a:rPr sz="1400" b="0" i="0">
                <a:solidFill>
                  <a:srgbClr val="64748B"/>
                </a:solidFill>
                <a:latin typeface="Calibri"/>
              </a:rPr>
              <a:t>A single Python file carries data loading, the encoder, all three losses, the hard-sample weights, training, evaluation and artifact export. A notebook calls the same code and rebuilds every table and figure without retraining.</a:t>
            </a:r>
          </a:p>
        </p:txBody>
      </p:sp>
      <p:sp>
        <p:nvSpPr>
          <p:cNvPr id="5" name="Rounded Rectangle 4"/>
          <p:cNvSpPr/>
          <p:nvPr/>
        </p:nvSpPr>
        <p:spPr>
          <a:xfrm>
            <a:off x="685800" y="1956816"/>
            <a:ext cx="2331720" cy="804672"/>
          </a:xfrm>
          <a:prstGeom prst="roundRect">
            <a:avLst>
              <a:gd name="adj" fmla="val 7000"/>
            </a:avLst>
          </a:prstGeom>
          <a:solidFill>
            <a:srgbClr val="ED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68680" y="2084831"/>
            <a:ext cx="1965960" cy="237744"/>
          </a:xfrm>
          <a:prstGeom prst="rect">
            <a:avLst/>
          </a:prstGeom>
          <a:noFill/>
        </p:spPr>
        <p:txBody>
          <a:bodyPr wrap="square" lIns="0" rIns="0" tIns="0" bIns="0" anchor="t">
            <a:noAutofit/>
          </a:bodyPr>
          <a:lstStyle/>
          <a:p>
            <a:pPr algn="l"/>
            <a:r>
              <a:rPr sz="1300" b="1" i="0">
                <a:solidFill>
                  <a:srgbClr val="121A2A"/>
                </a:solidFill>
                <a:latin typeface="Calibri"/>
              </a:rPr>
              <a:t>Inputs</a:t>
            </a:r>
          </a:p>
        </p:txBody>
      </p:sp>
      <p:sp>
        <p:nvSpPr>
          <p:cNvPr id="7" name="TextBox 6"/>
          <p:cNvSpPr txBox="1"/>
          <p:nvPr/>
        </p:nvSpPr>
        <p:spPr>
          <a:xfrm>
            <a:off x="868680" y="2340864"/>
            <a:ext cx="1965960" cy="384048"/>
          </a:xfrm>
          <a:prstGeom prst="rect">
            <a:avLst/>
          </a:prstGeom>
          <a:noFill/>
        </p:spPr>
        <p:txBody>
          <a:bodyPr wrap="square" lIns="0" rIns="0" tIns="0" bIns="0" anchor="t">
            <a:noAutofit/>
          </a:bodyPr>
          <a:lstStyle/>
          <a:p>
            <a:pPr algn="l">
              <a:lnSpc>
                <a:spcPct val="106000"/>
              </a:lnSpc>
            </a:pPr>
            <a:r>
              <a:rPr sz="1150" b="0" i="0">
                <a:solidFill>
                  <a:srgbClr val="64748B"/>
                </a:solidFill>
                <a:latin typeface="Calibri"/>
              </a:rPr>
              <a:t>Features X and normalised adjacency Â</a:t>
            </a:r>
          </a:p>
        </p:txBody>
      </p:sp>
      <p:sp>
        <p:nvSpPr>
          <p:cNvPr id="8" name="Rounded Rectangle 7"/>
          <p:cNvSpPr/>
          <p:nvPr/>
        </p:nvSpPr>
        <p:spPr>
          <a:xfrm>
            <a:off x="3401568" y="1956816"/>
            <a:ext cx="2697480" cy="804672"/>
          </a:xfrm>
          <a:prstGeom prst="roundRect">
            <a:avLst>
              <a:gd name="adj" fmla="val 7000"/>
            </a:avLst>
          </a:prstGeom>
          <a:solidFill>
            <a:srgbClr val="ED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8"/>
          <p:cNvSpPr txBox="1"/>
          <p:nvPr/>
        </p:nvSpPr>
        <p:spPr>
          <a:xfrm>
            <a:off x="3584448" y="2084831"/>
            <a:ext cx="2331720" cy="237744"/>
          </a:xfrm>
          <a:prstGeom prst="rect">
            <a:avLst/>
          </a:prstGeom>
          <a:noFill/>
        </p:spPr>
        <p:txBody>
          <a:bodyPr wrap="square" lIns="0" rIns="0" tIns="0" bIns="0" anchor="t">
            <a:noAutofit/>
          </a:bodyPr>
          <a:lstStyle/>
          <a:p>
            <a:pPr algn="l"/>
            <a:r>
              <a:rPr sz="1300" b="1" i="0">
                <a:solidFill>
                  <a:srgbClr val="121A2A"/>
                </a:solidFill>
                <a:latin typeface="Calibri"/>
              </a:rPr>
              <a:t>GCN layer 1</a:t>
            </a:r>
          </a:p>
        </p:txBody>
      </p:sp>
      <p:sp>
        <p:nvSpPr>
          <p:cNvPr id="10" name="TextBox 9"/>
          <p:cNvSpPr txBox="1"/>
          <p:nvPr/>
        </p:nvSpPr>
        <p:spPr>
          <a:xfrm>
            <a:off x="3584448" y="2340864"/>
            <a:ext cx="2331720" cy="384048"/>
          </a:xfrm>
          <a:prstGeom prst="rect">
            <a:avLst/>
          </a:prstGeom>
          <a:noFill/>
        </p:spPr>
        <p:txBody>
          <a:bodyPr wrap="square" lIns="0" rIns="0" tIns="0" bIns="0" anchor="t">
            <a:noAutofit/>
          </a:bodyPr>
          <a:lstStyle/>
          <a:p>
            <a:pPr algn="l">
              <a:lnSpc>
                <a:spcPct val="106000"/>
              </a:lnSpc>
            </a:pPr>
            <a:r>
              <a:rPr sz="1150" b="0" i="0">
                <a:solidFill>
                  <a:srgbClr val="64748B"/>
                </a:solidFill>
                <a:latin typeface="Calibri"/>
              </a:rPr>
              <a:t>100 units, ReLU, dropout 0.3</a:t>
            </a:r>
          </a:p>
        </p:txBody>
      </p:sp>
      <p:sp>
        <p:nvSpPr>
          <p:cNvPr id="11" name="Rounded Rectangle 10"/>
          <p:cNvSpPr/>
          <p:nvPr/>
        </p:nvSpPr>
        <p:spPr>
          <a:xfrm>
            <a:off x="6483096" y="1956816"/>
            <a:ext cx="2148840" cy="804672"/>
          </a:xfrm>
          <a:prstGeom prst="roundRect">
            <a:avLst>
              <a:gd name="adj" fmla="val 7000"/>
            </a:avLst>
          </a:prstGeom>
          <a:solidFill>
            <a:srgbClr val="ED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6665976" y="2084831"/>
            <a:ext cx="1783080" cy="237744"/>
          </a:xfrm>
          <a:prstGeom prst="rect">
            <a:avLst/>
          </a:prstGeom>
          <a:noFill/>
        </p:spPr>
        <p:txBody>
          <a:bodyPr wrap="square" lIns="0" rIns="0" tIns="0" bIns="0" anchor="t">
            <a:noAutofit/>
          </a:bodyPr>
          <a:lstStyle/>
          <a:p>
            <a:pPr algn="l"/>
            <a:r>
              <a:rPr sz="1300" b="1" i="0">
                <a:solidFill>
                  <a:srgbClr val="121A2A"/>
                </a:solidFill>
                <a:latin typeface="Calibri"/>
              </a:rPr>
              <a:t>GCN layer 2</a:t>
            </a:r>
          </a:p>
        </p:txBody>
      </p:sp>
      <p:sp>
        <p:nvSpPr>
          <p:cNvPr id="13" name="TextBox 12"/>
          <p:cNvSpPr txBox="1"/>
          <p:nvPr/>
        </p:nvSpPr>
        <p:spPr>
          <a:xfrm>
            <a:off x="6665976" y="2340864"/>
            <a:ext cx="1783080" cy="384048"/>
          </a:xfrm>
          <a:prstGeom prst="rect">
            <a:avLst/>
          </a:prstGeom>
          <a:noFill/>
        </p:spPr>
        <p:txBody>
          <a:bodyPr wrap="square" lIns="0" rIns="0" tIns="0" bIns="0" anchor="t">
            <a:noAutofit/>
          </a:bodyPr>
          <a:lstStyle/>
          <a:p>
            <a:pPr algn="l">
              <a:lnSpc>
                <a:spcPct val="106000"/>
              </a:lnSpc>
            </a:pPr>
            <a:r>
              <a:rPr sz="1150" b="0" i="0">
                <a:solidFill>
                  <a:srgbClr val="64748B"/>
                </a:solidFill>
                <a:latin typeface="Calibri"/>
              </a:rPr>
              <a:t>K output dimensions</a:t>
            </a:r>
          </a:p>
        </p:txBody>
      </p:sp>
      <p:sp>
        <p:nvSpPr>
          <p:cNvPr id="14" name="Rounded Rectangle 13"/>
          <p:cNvSpPr/>
          <p:nvPr/>
        </p:nvSpPr>
        <p:spPr>
          <a:xfrm>
            <a:off x="9015984" y="1956816"/>
            <a:ext cx="2487168" cy="804672"/>
          </a:xfrm>
          <a:prstGeom prst="roundRect">
            <a:avLst>
              <a:gd name="adj" fmla="val 7000"/>
            </a:avLst>
          </a:prstGeom>
          <a:solidFill>
            <a:srgbClr val="ED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198863" y="2084831"/>
            <a:ext cx="2121408" cy="237744"/>
          </a:xfrm>
          <a:prstGeom prst="rect">
            <a:avLst/>
          </a:prstGeom>
          <a:noFill/>
        </p:spPr>
        <p:txBody>
          <a:bodyPr wrap="square" lIns="0" rIns="0" tIns="0" bIns="0" anchor="t">
            <a:noAutofit/>
          </a:bodyPr>
          <a:lstStyle/>
          <a:p>
            <a:pPr algn="l"/>
            <a:r>
              <a:rPr sz="1300" b="1" i="0">
                <a:solidFill>
                  <a:srgbClr val="121A2A"/>
                </a:solidFill>
                <a:latin typeface="Calibri"/>
              </a:rPr>
              <a:t>Embedding O</a:t>
            </a:r>
          </a:p>
        </p:txBody>
      </p:sp>
      <p:sp>
        <p:nvSpPr>
          <p:cNvPr id="16" name="TextBox 15"/>
          <p:cNvSpPr txBox="1"/>
          <p:nvPr/>
        </p:nvSpPr>
        <p:spPr>
          <a:xfrm>
            <a:off x="9198863" y="2340864"/>
            <a:ext cx="2121408" cy="384048"/>
          </a:xfrm>
          <a:prstGeom prst="rect">
            <a:avLst/>
          </a:prstGeom>
          <a:noFill/>
        </p:spPr>
        <p:txBody>
          <a:bodyPr wrap="square" lIns="0" rIns="0" tIns="0" bIns="0" anchor="t">
            <a:noAutofit/>
          </a:bodyPr>
          <a:lstStyle/>
          <a:p>
            <a:pPr algn="l">
              <a:lnSpc>
                <a:spcPct val="106000"/>
              </a:lnSpc>
            </a:pPr>
            <a:r>
              <a:rPr sz="1150" b="0" i="0">
                <a:solidFill>
                  <a:srgbClr val="64748B"/>
                </a:solidFill>
                <a:latin typeface="Calibri"/>
              </a:rPr>
              <a:t>logits and embedding in one</a:t>
            </a:r>
          </a:p>
        </p:txBody>
      </p:sp>
      <p:sp>
        <p:nvSpPr>
          <p:cNvPr id="17" name="Isosceles Triangle 16"/>
          <p:cNvSpPr/>
          <p:nvPr/>
        </p:nvSpPr>
        <p:spPr>
          <a:xfrm rot="5400000">
            <a:off x="3090672" y="2286000"/>
            <a:ext cx="164592" cy="146304"/>
          </a:xfrm>
          <a:prstGeom prst="triangl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rot="5400000">
            <a:off x="6172200" y="2286000"/>
            <a:ext cx="164592" cy="146304"/>
          </a:xfrm>
          <a:prstGeom prst="triangl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5400000">
            <a:off x="8705088" y="2286000"/>
            <a:ext cx="164592" cy="146304"/>
          </a:xfrm>
          <a:prstGeom prst="triangl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85800" y="2926080"/>
            <a:ext cx="3451860" cy="1078992"/>
          </a:xfrm>
          <a:prstGeom prst="roundRect">
            <a:avLst>
              <a:gd name="adj" fmla="val 7000"/>
            </a:avLst>
          </a:prstGeom>
          <a:solidFill>
            <a:srgbClr val="FFFFFF"/>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0"/>
          <p:cNvSpPr txBox="1"/>
          <p:nvPr/>
        </p:nvSpPr>
        <p:spPr>
          <a:xfrm>
            <a:off x="923544" y="3090672"/>
            <a:ext cx="2976372" cy="256032"/>
          </a:xfrm>
          <a:prstGeom prst="rect">
            <a:avLst/>
          </a:prstGeom>
          <a:noFill/>
        </p:spPr>
        <p:txBody>
          <a:bodyPr wrap="square" lIns="0" rIns="0" tIns="0" bIns="0" anchor="t">
            <a:noAutofit/>
          </a:bodyPr>
          <a:lstStyle/>
          <a:p>
            <a:pPr algn="l"/>
            <a:r>
              <a:rPr sz="1350" b="1" i="0">
                <a:solidFill>
                  <a:srgbClr val="1C7293"/>
                </a:solidFill>
                <a:latin typeface="Cambria"/>
              </a:rPr>
              <a:t>Classification — ECO</a:t>
            </a:r>
          </a:p>
        </p:txBody>
      </p:sp>
      <p:sp>
        <p:nvSpPr>
          <p:cNvPr id="22" name="TextBox 21"/>
          <p:cNvSpPr txBox="1"/>
          <p:nvPr/>
        </p:nvSpPr>
        <p:spPr>
          <a:xfrm>
            <a:off x="923544" y="3438144"/>
            <a:ext cx="2976372" cy="402336"/>
          </a:xfrm>
          <a:prstGeom prst="rect">
            <a:avLst/>
          </a:prstGeom>
          <a:noFill/>
        </p:spPr>
        <p:txBody>
          <a:bodyPr wrap="square" lIns="0" rIns="0" tIns="0" bIns="0" anchor="t">
            <a:noAutofit/>
          </a:bodyPr>
          <a:lstStyle/>
          <a:p>
            <a:pPr algn="l">
              <a:lnSpc>
                <a:spcPct val="108000"/>
              </a:lnSpc>
            </a:pPr>
            <a:r>
              <a:rPr sz="1200" b="0" i="0">
                <a:solidFill>
                  <a:srgbClr val="64748B"/>
                </a:solidFill>
                <a:latin typeface="Calibri"/>
              </a:rPr>
              <a:t>α-weighted cross-entropy on the 81 labelled Cora nodes</a:t>
            </a:r>
          </a:p>
        </p:txBody>
      </p:sp>
      <p:sp>
        <p:nvSpPr>
          <p:cNvPr id="23" name="Rounded Rectangle 22"/>
          <p:cNvSpPr/>
          <p:nvPr/>
        </p:nvSpPr>
        <p:spPr>
          <a:xfrm>
            <a:off x="4370832" y="2926080"/>
            <a:ext cx="3451860" cy="1078992"/>
          </a:xfrm>
          <a:prstGeom prst="roundRect">
            <a:avLst>
              <a:gd name="adj" fmla="val 7000"/>
            </a:avLst>
          </a:prstGeom>
          <a:solidFill>
            <a:srgbClr val="FFFFFF"/>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TextBox 23"/>
          <p:cNvSpPr txBox="1"/>
          <p:nvPr/>
        </p:nvSpPr>
        <p:spPr>
          <a:xfrm>
            <a:off x="4608576" y="3090672"/>
            <a:ext cx="2976372" cy="256032"/>
          </a:xfrm>
          <a:prstGeom prst="rect">
            <a:avLst/>
          </a:prstGeom>
          <a:noFill/>
        </p:spPr>
        <p:txBody>
          <a:bodyPr wrap="square" lIns="0" rIns="0" tIns="0" bIns="0" anchor="t">
            <a:noAutofit/>
          </a:bodyPr>
          <a:lstStyle/>
          <a:p>
            <a:pPr algn="l"/>
            <a:r>
              <a:rPr sz="1350" b="1" i="0">
                <a:solidFill>
                  <a:srgbClr val="1C7293"/>
                </a:solidFill>
                <a:latin typeface="Cambria"/>
              </a:rPr>
              <a:t>Clustering — ECO</a:t>
            </a:r>
          </a:p>
        </p:txBody>
      </p:sp>
      <p:sp>
        <p:nvSpPr>
          <p:cNvPr id="25" name="TextBox 24"/>
          <p:cNvSpPr txBox="1"/>
          <p:nvPr/>
        </p:nvSpPr>
        <p:spPr>
          <a:xfrm>
            <a:off x="4608576" y="3438144"/>
            <a:ext cx="2976372" cy="402336"/>
          </a:xfrm>
          <a:prstGeom prst="rect">
            <a:avLst/>
          </a:prstGeom>
          <a:noFill/>
        </p:spPr>
        <p:txBody>
          <a:bodyPr wrap="square" lIns="0" rIns="0" tIns="0" bIns="0" anchor="t">
            <a:noAutofit/>
          </a:bodyPr>
          <a:lstStyle/>
          <a:p>
            <a:pPr algn="l">
              <a:lnSpc>
                <a:spcPct val="108000"/>
              </a:lnSpc>
            </a:pPr>
            <a:r>
              <a:rPr sz="1200" b="0" i="0">
                <a:solidFill>
                  <a:srgbClr val="64748B"/>
                </a:solidFill>
                <a:latin typeface="Calibri"/>
              </a:rPr>
              <a:t>KL(P‖Q) between Student-t assignments and sharpened targets</a:t>
            </a:r>
          </a:p>
        </p:txBody>
      </p:sp>
      <p:sp>
        <p:nvSpPr>
          <p:cNvPr id="26" name="Rounded Rectangle 25"/>
          <p:cNvSpPr/>
          <p:nvPr/>
        </p:nvSpPr>
        <p:spPr>
          <a:xfrm>
            <a:off x="8055864" y="2926080"/>
            <a:ext cx="3451860" cy="1078992"/>
          </a:xfrm>
          <a:prstGeom prst="roundRect">
            <a:avLst>
              <a:gd name="adj" fmla="val 7000"/>
            </a:avLst>
          </a:prstGeom>
          <a:solidFill>
            <a:srgbClr val="FFFFFF"/>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TextBox 26"/>
          <p:cNvSpPr txBox="1"/>
          <p:nvPr/>
        </p:nvSpPr>
        <p:spPr>
          <a:xfrm>
            <a:off x="8293608" y="3090672"/>
            <a:ext cx="2976372" cy="256032"/>
          </a:xfrm>
          <a:prstGeom prst="rect">
            <a:avLst/>
          </a:prstGeom>
          <a:noFill/>
        </p:spPr>
        <p:txBody>
          <a:bodyPr wrap="square" lIns="0" rIns="0" tIns="0" bIns="0" anchor="t">
            <a:noAutofit/>
          </a:bodyPr>
          <a:lstStyle/>
          <a:p>
            <a:pPr algn="l"/>
            <a:r>
              <a:rPr sz="1350" b="1" i="0">
                <a:solidFill>
                  <a:srgbClr val="1C7293"/>
                </a:solidFill>
                <a:latin typeface="Cambria"/>
              </a:rPr>
              <a:t>Reconstruction — GRO</a:t>
            </a:r>
          </a:p>
        </p:txBody>
      </p:sp>
      <p:sp>
        <p:nvSpPr>
          <p:cNvPr id="28" name="TextBox 27"/>
          <p:cNvSpPr txBox="1"/>
          <p:nvPr/>
        </p:nvSpPr>
        <p:spPr>
          <a:xfrm>
            <a:off x="8293608" y="3438144"/>
            <a:ext cx="2976372" cy="402336"/>
          </a:xfrm>
          <a:prstGeom prst="rect">
            <a:avLst/>
          </a:prstGeom>
          <a:noFill/>
        </p:spPr>
        <p:txBody>
          <a:bodyPr wrap="square" lIns="0" rIns="0" tIns="0" bIns="0" anchor="t">
            <a:noAutofit/>
          </a:bodyPr>
          <a:lstStyle/>
          <a:p>
            <a:pPr algn="l">
              <a:lnSpc>
                <a:spcPct val="108000"/>
              </a:lnSpc>
            </a:pPr>
            <a:r>
              <a:rPr sz="1200" b="0" i="0">
                <a:solidFill>
                  <a:srgbClr val="64748B"/>
                </a:solidFill>
                <a:latin typeface="Calibri"/>
              </a:rPr>
              <a:t>BCE on sigmoid(oᵢᵀoⱼ) over sampled edge and non-edge pairs</a:t>
            </a:r>
          </a:p>
        </p:txBody>
      </p:sp>
      <p:sp>
        <p:nvSpPr>
          <p:cNvPr id="29" name="Rounded Rectangle 28"/>
          <p:cNvSpPr/>
          <p:nvPr/>
        </p:nvSpPr>
        <p:spPr>
          <a:xfrm>
            <a:off x="685800" y="4096512"/>
            <a:ext cx="10820095" cy="841248"/>
          </a:xfrm>
          <a:prstGeom prst="roundRect">
            <a:avLst>
              <a:gd name="adj" fmla="val 7000"/>
            </a:avLst>
          </a:prstGeom>
          <a:solidFill>
            <a:srgbClr val="121A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TextBox 29"/>
          <p:cNvSpPr txBox="1"/>
          <p:nvPr/>
        </p:nvSpPr>
        <p:spPr>
          <a:xfrm>
            <a:off x="1033271" y="4279392"/>
            <a:ext cx="10125151" cy="296875"/>
          </a:xfrm>
          <a:prstGeom prst="rect">
            <a:avLst/>
          </a:prstGeom>
          <a:noFill/>
        </p:spPr>
        <p:txBody>
          <a:bodyPr wrap="square" lIns="0" rIns="0" tIns="0" bIns="0" anchor="t">
            <a:noAutofit/>
          </a:bodyPr>
          <a:lstStyle/>
          <a:p>
            <a:pPr algn="l">
              <a:lnSpc>
                <a:spcPct val="112000"/>
              </a:lnSpc>
            </a:pPr>
            <a:r>
              <a:rPr sz="1500" b="1" i="0">
                <a:solidFill>
                  <a:srgbClr val="FFFFFF"/>
                </a:solidFill>
                <a:latin typeface="Cambria"/>
              </a:rPr>
              <a:t>Total loss  =  mean classification  +  mean clustering  +  mean reconstruction</a:t>
            </a:r>
          </a:p>
        </p:txBody>
      </p:sp>
      <p:sp>
        <p:nvSpPr>
          <p:cNvPr id="31" name="TextBox 30"/>
          <p:cNvSpPr txBox="1"/>
          <p:nvPr/>
        </p:nvSpPr>
        <p:spPr>
          <a:xfrm>
            <a:off x="1033271" y="4649419"/>
            <a:ext cx="10125151" cy="244815"/>
          </a:xfrm>
          <a:prstGeom prst="rect">
            <a:avLst/>
          </a:prstGeom>
          <a:noFill/>
        </p:spPr>
        <p:txBody>
          <a:bodyPr wrap="square" lIns="0" rIns="0" tIns="0" bIns="0" anchor="t">
            <a:noAutofit/>
          </a:bodyPr>
          <a:lstStyle/>
          <a:p>
            <a:pPr algn="l">
              <a:lnSpc>
                <a:spcPct val="112000"/>
              </a:lnSpc>
            </a:pPr>
            <a:r>
              <a:rPr sz="1200" b="0" i="0">
                <a:solidFill>
                  <a:srgbClr val="A9BBCC"/>
                </a:solidFill>
                <a:latin typeface="Calibri"/>
              </a:rPr>
              <a:t>Hard-sample weights multiply all three terms, and no extra tuned coefficients are used.</a:t>
            </a:r>
          </a:p>
        </p:txBody>
      </p:sp>
      <p:sp>
        <p:nvSpPr>
          <p:cNvPr id="32" name="Rounded Rectangle 31"/>
          <p:cNvSpPr/>
          <p:nvPr/>
        </p:nvSpPr>
        <p:spPr>
          <a:xfrm>
            <a:off x="685800" y="5010912"/>
            <a:ext cx="3451860" cy="1207008"/>
          </a:xfrm>
          <a:prstGeom prst="roundRect">
            <a:avLst>
              <a:gd name="adj" fmla="val 7000"/>
            </a:avLst>
          </a:prstGeom>
          <a:solidFill>
            <a:srgbClr val="ED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3" name="TextBox 32"/>
          <p:cNvSpPr txBox="1"/>
          <p:nvPr/>
        </p:nvSpPr>
        <p:spPr>
          <a:xfrm>
            <a:off x="923544" y="5138928"/>
            <a:ext cx="2976372" cy="256032"/>
          </a:xfrm>
          <a:prstGeom prst="rect">
            <a:avLst/>
          </a:prstGeom>
          <a:noFill/>
        </p:spPr>
        <p:txBody>
          <a:bodyPr wrap="square" lIns="0" rIns="0" tIns="0" bIns="0" anchor="t">
            <a:noAutofit/>
          </a:bodyPr>
          <a:lstStyle/>
          <a:p>
            <a:pPr algn="l"/>
            <a:r>
              <a:rPr sz="1300" b="1" i="0">
                <a:solidFill>
                  <a:srgbClr val="121A2A"/>
                </a:solidFill>
                <a:latin typeface="Cambria"/>
              </a:rPr>
              <a:t>Data</a:t>
            </a:r>
          </a:p>
        </p:txBody>
      </p:sp>
      <p:sp>
        <p:nvSpPr>
          <p:cNvPr id="34" name="TextBox 33"/>
          <p:cNvSpPr txBox="1"/>
          <p:nvPr/>
        </p:nvSpPr>
        <p:spPr>
          <a:xfrm>
            <a:off x="923544" y="5449824"/>
            <a:ext cx="2976372" cy="603504"/>
          </a:xfrm>
          <a:prstGeom prst="rect">
            <a:avLst/>
          </a:prstGeom>
          <a:noFill/>
        </p:spPr>
        <p:txBody>
          <a:bodyPr wrap="square" lIns="0" rIns="0" tIns="0" bIns="0" anchor="t">
            <a:noAutofit/>
          </a:bodyPr>
          <a:lstStyle/>
          <a:p>
            <a:pPr algn="l">
              <a:lnSpc>
                <a:spcPct val="108000"/>
              </a:lnSpc>
            </a:pPr>
            <a:r>
              <a:rPr sz="1150" b="0" i="0">
                <a:solidFill>
                  <a:srgbClr val="64748B"/>
                </a:solidFill>
                <a:latin typeface="Calibri"/>
              </a:rPr>
              <a:t>Cora, CiteSeer and PubMed, bundled and SHA-256 hashed. Split 3% train, 10% validation, the rest test.</a:t>
            </a:r>
          </a:p>
        </p:txBody>
      </p:sp>
      <p:sp>
        <p:nvSpPr>
          <p:cNvPr id="35" name="Rounded Rectangle 34"/>
          <p:cNvSpPr/>
          <p:nvPr/>
        </p:nvSpPr>
        <p:spPr>
          <a:xfrm>
            <a:off x="4370832" y="5010912"/>
            <a:ext cx="3451860" cy="1207008"/>
          </a:xfrm>
          <a:prstGeom prst="roundRect">
            <a:avLst>
              <a:gd name="adj" fmla="val 7000"/>
            </a:avLst>
          </a:prstGeom>
          <a:solidFill>
            <a:srgbClr val="ED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TextBox 35"/>
          <p:cNvSpPr txBox="1"/>
          <p:nvPr/>
        </p:nvSpPr>
        <p:spPr>
          <a:xfrm>
            <a:off x="4608576" y="5138928"/>
            <a:ext cx="2976372" cy="256032"/>
          </a:xfrm>
          <a:prstGeom prst="rect">
            <a:avLst/>
          </a:prstGeom>
          <a:noFill/>
        </p:spPr>
        <p:txBody>
          <a:bodyPr wrap="square" lIns="0" rIns="0" tIns="0" bIns="0" anchor="t">
            <a:noAutofit/>
          </a:bodyPr>
          <a:lstStyle/>
          <a:p>
            <a:pPr algn="l"/>
            <a:r>
              <a:rPr sz="1300" b="1" i="0">
                <a:solidFill>
                  <a:srgbClr val="121A2A"/>
                </a:solidFill>
                <a:latin typeface="Cambria"/>
              </a:rPr>
              <a:t>Training</a:t>
            </a:r>
          </a:p>
        </p:txBody>
      </p:sp>
      <p:sp>
        <p:nvSpPr>
          <p:cNvPr id="37" name="TextBox 36"/>
          <p:cNvSpPr txBox="1"/>
          <p:nvPr/>
        </p:nvSpPr>
        <p:spPr>
          <a:xfrm>
            <a:off x="4608576" y="5449824"/>
            <a:ext cx="2976372" cy="603504"/>
          </a:xfrm>
          <a:prstGeom prst="rect">
            <a:avLst/>
          </a:prstGeom>
          <a:noFill/>
        </p:spPr>
        <p:txBody>
          <a:bodyPr wrap="square" lIns="0" rIns="0" tIns="0" bIns="0" anchor="t">
            <a:noAutofit/>
          </a:bodyPr>
          <a:lstStyle/>
          <a:p>
            <a:pPr algn="l">
              <a:lnSpc>
                <a:spcPct val="108000"/>
              </a:lnSpc>
            </a:pPr>
            <a:r>
              <a:rPr sz="1150" b="0" i="0">
                <a:solidFill>
                  <a:srgbClr val="64748B"/>
                </a:solidFill>
                <a:latin typeface="Calibri"/>
              </a:rPr>
              <a:t>Adam, lr 0.002, weight decay 0.03, up to 1,000 epochs, 200-epoch patience, best-validation checkpoint.</a:t>
            </a:r>
          </a:p>
        </p:txBody>
      </p:sp>
      <p:sp>
        <p:nvSpPr>
          <p:cNvPr id="38" name="Rounded Rectangle 37"/>
          <p:cNvSpPr/>
          <p:nvPr/>
        </p:nvSpPr>
        <p:spPr>
          <a:xfrm>
            <a:off x="8055864" y="5010912"/>
            <a:ext cx="3451860" cy="1207008"/>
          </a:xfrm>
          <a:prstGeom prst="roundRect">
            <a:avLst>
              <a:gd name="adj" fmla="val 7000"/>
            </a:avLst>
          </a:prstGeom>
          <a:solidFill>
            <a:srgbClr val="ED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9" name="TextBox 38"/>
          <p:cNvSpPr txBox="1"/>
          <p:nvPr/>
        </p:nvSpPr>
        <p:spPr>
          <a:xfrm>
            <a:off x="8293608" y="5138928"/>
            <a:ext cx="2976372" cy="256032"/>
          </a:xfrm>
          <a:prstGeom prst="rect">
            <a:avLst/>
          </a:prstGeom>
          <a:noFill/>
        </p:spPr>
        <p:txBody>
          <a:bodyPr wrap="square" lIns="0" rIns="0" tIns="0" bIns="0" anchor="t">
            <a:noAutofit/>
          </a:bodyPr>
          <a:lstStyle/>
          <a:p>
            <a:pPr algn="l"/>
            <a:r>
              <a:rPr sz="1300" b="1" i="0">
                <a:solidFill>
                  <a:srgbClr val="121A2A"/>
                </a:solidFill>
                <a:latin typeface="Cambria"/>
              </a:rPr>
              <a:t>Runs</a:t>
            </a:r>
          </a:p>
        </p:txBody>
      </p:sp>
      <p:sp>
        <p:nvSpPr>
          <p:cNvPr id="40" name="TextBox 39"/>
          <p:cNvSpPr txBox="1"/>
          <p:nvPr/>
        </p:nvSpPr>
        <p:spPr>
          <a:xfrm>
            <a:off x="8293608" y="5449824"/>
            <a:ext cx="2976372" cy="603504"/>
          </a:xfrm>
          <a:prstGeom prst="rect">
            <a:avLst/>
          </a:prstGeom>
          <a:noFill/>
        </p:spPr>
        <p:txBody>
          <a:bodyPr wrap="square" lIns="0" rIns="0" tIns="0" bIns="0" anchor="t">
            <a:noAutofit/>
          </a:bodyPr>
          <a:lstStyle/>
          <a:p>
            <a:pPr algn="l">
              <a:lnSpc>
                <a:spcPct val="108000"/>
              </a:lnSpc>
            </a:pPr>
            <a:r>
              <a:rPr sz="1150" b="0" i="0">
                <a:solidFill>
                  <a:srgbClr val="64748B"/>
                </a:solidFill>
                <a:latin typeface="Calibri"/>
              </a:rPr>
              <a:t>27 experiments: five configurations on Cora, two each on CiteSeer and PubMed, seeds 42–44, all on CPU.</a:t>
            </a:r>
          </a:p>
        </p:txBody>
      </p:sp>
      <p:sp>
        <p:nvSpPr>
          <p:cNvPr id="41" name="TextBox 40"/>
          <p:cNvSpPr txBox="1"/>
          <p:nvPr/>
        </p:nvSpPr>
        <p:spPr>
          <a:xfrm>
            <a:off x="685800" y="6400800"/>
            <a:ext cx="7315200" cy="201168"/>
          </a:xfrm>
          <a:prstGeom prst="rect">
            <a:avLst/>
          </a:prstGeom>
          <a:noFill/>
        </p:spPr>
        <p:txBody>
          <a:bodyPr wrap="square" lIns="0" rIns="0" tIns="0" bIns="0" anchor="t">
            <a:noAutofit/>
          </a:bodyPr>
          <a:lstStyle/>
          <a:p>
            <a:pPr algn="l"/>
            <a:r>
              <a:rPr sz="900" b="0" i="0">
                <a:solidFill>
                  <a:srgbClr val="64748B"/>
                </a:solidFill>
                <a:latin typeface="Calibri"/>
              </a:rPr>
              <a:t>GNN-INCM replication  |  Huang, Tang &amp; Chen (2022), Knowledge-Based Systems 244, 108538</a:t>
            </a:r>
          </a:p>
        </p:txBody>
      </p:sp>
      <p:sp>
        <p:nvSpPr>
          <p:cNvPr id="42" name="TextBox 41"/>
          <p:cNvSpPr txBox="1"/>
          <p:nvPr/>
        </p:nvSpPr>
        <p:spPr>
          <a:xfrm>
            <a:off x="10591495" y="6400800"/>
            <a:ext cx="914400" cy="201168"/>
          </a:xfrm>
          <a:prstGeom prst="rect">
            <a:avLst/>
          </a:prstGeom>
          <a:noFill/>
        </p:spPr>
        <p:txBody>
          <a:bodyPr wrap="square" lIns="0" rIns="0" tIns="0" bIns="0" anchor="t">
            <a:noAutofit/>
          </a:bodyPr>
          <a:lstStyle/>
          <a:p>
            <a:pPr algn="r"/>
            <a:r>
              <a:rPr sz="900" b="0" i="0">
                <a:solidFill>
                  <a:srgbClr val="64748B"/>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10820095" cy="219456"/>
          </a:xfrm>
          <a:prstGeom prst="rect">
            <a:avLst/>
          </a:prstGeom>
          <a:noFill/>
        </p:spPr>
        <p:txBody>
          <a:bodyPr wrap="square" lIns="0" rIns="0" tIns="0" bIns="0" anchor="t">
            <a:noAutofit/>
          </a:bodyPr>
          <a:lstStyle/>
          <a:p>
            <a:pPr algn="l"/>
            <a:r>
              <a:rPr sz="1100" b="1" i="0">
                <a:solidFill>
                  <a:srgbClr val="1C7293"/>
                </a:solidFill>
                <a:latin typeface="Calibri"/>
              </a:rPr>
              <a:t>RESULTS</a:t>
            </a:r>
          </a:p>
        </p:txBody>
      </p:sp>
      <p:sp>
        <p:nvSpPr>
          <p:cNvPr id="3" name="TextBox 2"/>
          <p:cNvSpPr txBox="1"/>
          <p:nvPr/>
        </p:nvSpPr>
        <p:spPr>
          <a:xfrm>
            <a:off x="685800" y="713232"/>
            <a:ext cx="10820095" cy="566928"/>
          </a:xfrm>
          <a:prstGeom prst="rect">
            <a:avLst/>
          </a:prstGeom>
          <a:noFill/>
        </p:spPr>
        <p:txBody>
          <a:bodyPr wrap="square" lIns="0" rIns="0" tIns="0" bIns="0" anchor="t">
            <a:noAutofit/>
          </a:bodyPr>
          <a:lstStyle/>
          <a:p>
            <a:pPr algn="l"/>
            <a:r>
              <a:rPr sz="3200" b="1" i="0">
                <a:solidFill>
                  <a:srgbClr val="121A2A"/>
                </a:solidFill>
                <a:latin typeface="Cambria"/>
              </a:rPr>
              <a:t>What the runs measured</a:t>
            </a:r>
          </a:p>
        </p:txBody>
      </p:sp>
      <p:sp>
        <p:nvSpPr>
          <p:cNvPr id="4" name="TextBox 3"/>
          <p:cNvSpPr txBox="1"/>
          <p:nvPr/>
        </p:nvSpPr>
        <p:spPr>
          <a:xfrm>
            <a:off x="713232" y="1316736"/>
            <a:ext cx="5212080" cy="237744"/>
          </a:xfrm>
          <a:prstGeom prst="rect">
            <a:avLst/>
          </a:prstGeom>
          <a:noFill/>
        </p:spPr>
        <p:txBody>
          <a:bodyPr wrap="square" lIns="0" rIns="0" tIns="0" bIns="0" anchor="t">
            <a:noAutofit/>
          </a:bodyPr>
          <a:lstStyle/>
          <a:p>
            <a:pPr algn="l"/>
            <a:r>
              <a:rPr sz="1050" b="1" i="0">
                <a:solidFill>
                  <a:srgbClr val="1C7293"/>
                </a:solidFill>
                <a:latin typeface="Calibri"/>
              </a:rPr>
              <a:t>OUR RUNS: BASELINE VERSUS GNN-INCM</a:t>
            </a:r>
          </a:p>
        </p:txBody>
      </p:sp>
      <p:graphicFrame>
        <p:nvGraphicFramePr>
          <p:cNvPr id="5" name="Chart 4"/>
          <p:cNvGraphicFramePr>
            <a:graphicFrameLocks noGrp="1"/>
          </p:cNvGraphicFramePr>
          <p:nvPr/>
        </p:nvGraphicFramePr>
        <p:xfrm>
          <a:off x="640080" y="1591056"/>
          <a:ext cx="5285232" cy="3310128"/>
        </p:xfrm>
        <a:graphic>
          <a:graphicData uri="http://schemas.openxmlformats.org/drawingml/2006/chart">
            <c:chart xmlns:c="http://schemas.openxmlformats.org/drawingml/2006/chart" r:id="rId2"/>
          </a:graphicData>
        </a:graphic>
      </p:graphicFrame>
      <p:sp>
        <p:nvSpPr>
          <p:cNvPr id="6" name="TextBox 5"/>
          <p:cNvSpPr txBox="1"/>
          <p:nvPr/>
        </p:nvSpPr>
        <p:spPr>
          <a:xfrm>
            <a:off x="713232" y="4956048"/>
            <a:ext cx="5212080" cy="274320"/>
          </a:xfrm>
          <a:prstGeom prst="rect">
            <a:avLst/>
          </a:prstGeom>
          <a:noFill/>
        </p:spPr>
        <p:txBody>
          <a:bodyPr wrap="square" lIns="0" rIns="0" tIns="0" bIns="0" anchor="t">
            <a:noAutofit/>
          </a:bodyPr>
          <a:lstStyle/>
          <a:p>
            <a:pPr algn="l"/>
            <a:r>
              <a:rPr sz="1100" b="0" i="0">
                <a:solidFill>
                  <a:srgbClr val="64748B"/>
                </a:solidFill>
                <a:latin typeface="Calibri"/>
              </a:rPr>
              <a:t>Test macro F1, mean over seeds 42, 43 and 44.</a:t>
            </a:r>
          </a:p>
        </p:txBody>
      </p:sp>
      <p:sp>
        <p:nvSpPr>
          <p:cNvPr id="7" name="TextBox 6"/>
          <p:cNvSpPr txBox="1"/>
          <p:nvPr/>
        </p:nvSpPr>
        <p:spPr>
          <a:xfrm>
            <a:off x="6364224" y="1316736"/>
            <a:ext cx="5212080" cy="237744"/>
          </a:xfrm>
          <a:prstGeom prst="rect">
            <a:avLst/>
          </a:prstGeom>
          <a:noFill/>
        </p:spPr>
        <p:txBody>
          <a:bodyPr wrap="square" lIns="0" rIns="0" tIns="0" bIns="0" anchor="t">
            <a:noAutofit/>
          </a:bodyPr>
          <a:lstStyle/>
          <a:p>
            <a:pPr algn="l"/>
            <a:r>
              <a:rPr sz="1050" b="1" i="0">
                <a:solidFill>
                  <a:srgbClr val="1C7293"/>
                </a:solidFill>
                <a:latin typeface="Calibri"/>
              </a:rPr>
              <a:t>GNN-INCM: THE PAPER VERSUS THIS WORK</a:t>
            </a:r>
          </a:p>
        </p:txBody>
      </p:sp>
      <p:graphicFrame>
        <p:nvGraphicFramePr>
          <p:cNvPr id="8" name="Chart 7"/>
          <p:cNvGraphicFramePr>
            <a:graphicFrameLocks noGrp="1"/>
          </p:cNvGraphicFramePr>
          <p:nvPr/>
        </p:nvGraphicFramePr>
        <p:xfrm>
          <a:off x="6291072" y="1591056"/>
          <a:ext cx="5285232" cy="3310128"/>
        </p:xfrm>
        <a:graphic>
          <a:graphicData uri="http://schemas.openxmlformats.org/drawingml/2006/chart">
            <c:chart xmlns:c="http://schemas.openxmlformats.org/drawingml/2006/chart" r:id="rId3"/>
          </a:graphicData>
        </a:graphic>
      </p:graphicFrame>
      <p:sp>
        <p:nvSpPr>
          <p:cNvPr id="9" name="TextBox 8"/>
          <p:cNvSpPr txBox="1"/>
          <p:nvPr/>
        </p:nvSpPr>
        <p:spPr>
          <a:xfrm>
            <a:off x="6364224" y="4956048"/>
            <a:ext cx="5212080" cy="274320"/>
          </a:xfrm>
          <a:prstGeom prst="rect">
            <a:avLst/>
          </a:prstGeom>
          <a:noFill/>
        </p:spPr>
        <p:txBody>
          <a:bodyPr wrap="square" lIns="0" rIns="0" tIns="0" bIns="0" anchor="t">
            <a:noAutofit/>
          </a:bodyPr>
          <a:lstStyle/>
          <a:p>
            <a:pPr algn="l"/>
            <a:r>
              <a:rPr sz="1100" b="0" i="0">
                <a:solidFill>
                  <a:srgbClr val="64748B"/>
                </a:solidFill>
                <a:latin typeface="Calibri"/>
              </a:rPr>
              <a:t>Paper values from Table 2; ours are macro F1.</a:t>
            </a:r>
          </a:p>
        </p:txBody>
      </p:sp>
      <p:sp>
        <p:nvSpPr>
          <p:cNvPr id="10" name="Rounded Rectangle 9"/>
          <p:cNvSpPr/>
          <p:nvPr/>
        </p:nvSpPr>
        <p:spPr>
          <a:xfrm>
            <a:off x="685800" y="5248656"/>
            <a:ext cx="10820095" cy="932688"/>
          </a:xfrm>
          <a:prstGeom prst="roundRect">
            <a:avLst>
              <a:gd name="adj" fmla="val 7000"/>
            </a:avLst>
          </a:prstGeom>
          <a:solidFill>
            <a:srgbClr val="121A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1033271" y="5431536"/>
            <a:ext cx="10125151" cy="219456"/>
          </a:xfrm>
          <a:prstGeom prst="rect">
            <a:avLst/>
          </a:prstGeom>
          <a:noFill/>
        </p:spPr>
        <p:txBody>
          <a:bodyPr wrap="square" lIns="0" rIns="0" tIns="0" bIns="0" anchor="t">
            <a:noAutofit/>
          </a:bodyPr>
          <a:lstStyle/>
          <a:p>
            <a:pPr algn="l"/>
            <a:r>
              <a:rPr sz="1050" b="1" i="0">
                <a:solidFill>
                  <a:srgbClr val="D9A441"/>
                </a:solidFill>
                <a:latin typeface="Calibri"/>
              </a:rPr>
              <a:t>WHAT THE TWO CHARTS SAY TOGETHER</a:t>
            </a:r>
          </a:p>
        </p:txBody>
      </p:sp>
      <p:sp>
        <p:nvSpPr>
          <p:cNvPr id="12" name="TextBox 11"/>
          <p:cNvSpPr txBox="1"/>
          <p:nvPr/>
        </p:nvSpPr>
        <p:spPr>
          <a:xfrm>
            <a:off x="1033271" y="5724144"/>
            <a:ext cx="10125151" cy="487761"/>
          </a:xfrm>
          <a:prstGeom prst="rect">
            <a:avLst/>
          </a:prstGeom>
          <a:noFill/>
        </p:spPr>
        <p:txBody>
          <a:bodyPr wrap="square" lIns="0" rIns="0" tIns="0" bIns="0" anchor="t">
            <a:noAutofit/>
          </a:bodyPr>
          <a:lstStyle/>
          <a:p>
            <a:pPr algn="l">
              <a:lnSpc>
                <a:spcPct val="112000"/>
              </a:lnSpc>
            </a:pPr>
            <a:r>
              <a:rPr sz="1300" b="0" i="0">
                <a:solidFill>
                  <a:srgbClr val="A9BBCC"/>
                </a:solidFill>
                <a:latin typeface="Calibri"/>
              </a:rPr>
              <a:t>GNN-INCM leads the controlled baseline on all three datasets and is far steadier — ±0.021 against ±0.263 on Cora — but every dataset lands below the published figure: PubMed by 0.015, CiteSeer by 0.075, Cora by 0.108.</a:t>
            </a:r>
          </a:p>
        </p:txBody>
      </p:sp>
      <p:sp>
        <p:nvSpPr>
          <p:cNvPr id="13" name="TextBox 12"/>
          <p:cNvSpPr txBox="1"/>
          <p:nvPr/>
        </p:nvSpPr>
        <p:spPr>
          <a:xfrm>
            <a:off x="685800" y="6400800"/>
            <a:ext cx="7315200" cy="201168"/>
          </a:xfrm>
          <a:prstGeom prst="rect">
            <a:avLst/>
          </a:prstGeom>
          <a:noFill/>
        </p:spPr>
        <p:txBody>
          <a:bodyPr wrap="square" lIns="0" rIns="0" tIns="0" bIns="0" anchor="t">
            <a:noAutofit/>
          </a:bodyPr>
          <a:lstStyle/>
          <a:p>
            <a:pPr algn="l"/>
            <a:r>
              <a:rPr sz="900" b="0" i="0">
                <a:solidFill>
                  <a:srgbClr val="64748B"/>
                </a:solidFill>
                <a:latin typeface="Calibri"/>
              </a:rPr>
              <a:t>GNN-INCM replication  |  Huang, Tang &amp; Chen (2022), Knowledge-Based Systems 244, 108538</a:t>
            </a:r>
          </a:p>
        </p:txBody>
      </p:sp>
      <p:sp>
        <p:nvSpPr>
          <p:cNvPr id="14" name="TextBox 13"/>
          <p:cNvSpPr txBox="1"/>
          <p:nvPr/>
        </p:nvSpPr>
        <p:spPr>
          <a:xfrm>
            <a:off x="10591495" y="6400800"/>
            <a:ext cx="914400" cy="201168"/>
          </a:xfrm>
          <a:prstGeom prst="rect">
            <a:avLst/>
          </a:prstGeom>
          <a:noFill/>
        </p:spPr>
        <p:txBody>
          <a:bodyPr wrap="square" lIns="0" rIns="0" tIns="0" bIns="0" anchor="t">
            <a:noAutofit/>
          </a:bodyPr>
          <a:lstStyle/>
          <a:p>
            <a:pPr algn="r"/>
            <a:r>
              <a:rPr sz="900" b="0" i="0">
                <a:solidFill>
                  <a:srgbClr val="64748B"/>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10820095" cy="219456"/>
          </a:xfrm>
          <a:prstGeom prst="rect">
            <a:avLst/>
          </a:prstGeom>
          <a:noFill/>
        </p:spPr>
        <p:txBody>
          <a:bodyPr wrap="square" lIns="0" rIns="0" tIns="0" bIns="0" anchor="t">
            <a:noAutofit/>
          </a:bodyPr>
          <a:lstStyle/>
          <a:p>
            <a:pPr algn="l"/>
            <a:r>
              <a:rPr sz="1100" b="1" i="0">
                <a:solidFill>
                  <a:srgbClr val="1C7293"/>
                </a:solidFill>
                <a:latin typeface="Calibri"/>
              </a:rPr>
              <a:t>GAP ANALYSIS</a:t>
            </a:r>
          </a:p>
        </p:txBody>
      </p:sp>
      <p:sp>
        <p:nvSpPr>
          <p:cNvPr id="3" name="TextBox 2"/>
          <p:cNvSpPr txBox="1"/>
          <p:nvPr/>
        </p:nvSpPr>
        <p:spPr>
          <a:xfrm>
            <a:off x="685800" y="713232"/>
            <a:ext cx="10820095" cy="566928"/>
          </a:xfrm>
          <a:prstGeom prst="rect">
            <a:avLst/>
          </a:prstGeom>
          <a:noFill/>
        </p:spPr>
        <p:txBody>
          <a:bodyPr wrap="square" lIns="0" rIns="0" tIns="0" bIns="0" anchor="t">
            <a:noAutofit/>
          </a:bodyPr>
          <a:lstStyle/>
          <a:p>
            <a:pPr algn="l"/>
            <a:r>
              <a:rPr sz="3200" b="1" i="0">
                <a:solidFill>
                  <a:srgbClr val="121A2A"/>
                </a:solidFill>
                <a:latin typeface="Cambria"/>
              </a:rPr>
              <a:t>Where it diverges, and why</a:t>
            </a:r>
          </a:p>
        </p:txBody>
      </p:sp>
      <p:sp>
        <p:nvSpPr>
          <p:cNvPr id="4" name="TextBox 3"/>
          <p:cNvSpPr txBox="1"/>
          <p:nvPr/>
        </p:nvSpPr>
        <p:spPr>
          <a:xfrm>
            <a:off x="713232" y="1316736"/>
            <a:ext cx="5212080" cy="237744"/>
          </a:xfrm>
          <a:prstGeom prst="rect">
            <a:avLst/>
          </a:prstGeom>
          <a:noFill/>
        </p:spPr>
        <p:txBody>
          <a:bodyPr wrap="square" lIns="0" rIns="0" tIns="0" bIns="0" anchor="t">
            <a:noAutofit/>
          </a:bodyPr>
          <a:lstStyle/>
          <a:p>
            <a:pPr algn="l"/>
            <a:r>
              <a:rPr sz="1050" b="1" i="0">
                <a:solidFill>
                  <a:srgbClr val="1C7293"/>
                </a:solidFill>
                <a:latin typeface="Calibri"/>
              </a:rPr>
              <a:t>CORA ABLATIONS: REMOVING EACH COMPONENT</a:t>
            </a:r>
          </a:p>
        </p:txBody>
      </p:sp>
      <p:graphicFrame>
        <p:nvGraphicFramePr>
          <p:cNvPr id="5" name="Chart 4"/>
          <p:cNvGraphicFramePr>
            <a:graphicFrameLocks noGrp="1"/>
          </p:cNvGraphicFramePr>
          <p:nvPr/>
        </p:nvGraphicFramePr>
        <p:xfrm>
          <a:off x="640080" y="1591056"/>
          <a:ext cx="5285232" cy="3108960"/>
        </p:xfrm>
        <a:graphic>
          <a:graphicData uri="http://schemas.openxmlformats.org/drawingml/2006/chart">
            <c:chart xmlns:c="http://schemas.openxmlformats.org/drawingml/2006/chart" r:id="rId2"/>
          </a:graphicData>
        </a:graphic>
      </p:graphicFrame>
      <p:sp>
        <p:nvSpPr>
          <p:cNvPr id="6" name="TextBox 5"/>
          <p:cNvSpPr txBox="1"/>
          <p:nvPr/>
        </p:nvSpPr>
        <p:spPr>
          <a:xfrm>
            <a:off x="713232" y="4754880"/>
            <a:ext cx="5212080" cy="512064"/>
          </a:xfrm>
          <a:prstGeom prst="rect">
            <a:avLst/>
          </a:prstGeom>
          <a:noFill/>
        </p:spPr>
        <p:txBody>
          <a:bodyPr wrap="square" lIns="0" rIns="0" tIns="0" bIns="0" anchor="t">
            <a:noAutofit/>
          </a:bodyPr>
          <a:lstStyle/>
          <a:p>
            <a:pPr algn="l">
              <a:lnSpc>
                <a:spcPct val="110000"/>
              </a:lnSpc>
            </a:pPr>
            <a:r>
              <a:rPr sz="1150" b="0" i="0">
                <a:solidFill>
                  <a:srgbClr val="64748B"/>
                </a:solidFill>
                <a:latin typeface="Calibri"/>
              </a:rPr>
              <a:t>Removing clustering changes nothing measurable, removing reconstruction moves the mean by 0.0002, and removing the hard weights improves it.</a:t>
            </a:r>
          </a:p>
        </p:txBody>
      </p:sp>
      <p:sp>
        <p:nvSpPr>
          <p:cNvPr id="7" name="TextBox 6"/>
          <p:cNvSpPr txBox="1"/>
          <p:nvPr/>
        </p:nvSpPr>
        <p:spPr>
          <a:xfrm>
            <a:off x="6364224" y="1316736"/>
            <a:ext cx="5212080" cy="237744"/>
          </a:xfrm>
          <a:prstGeom prst="rect">
            <a:avLst/>
          </a:prstGeom>
          <a:noFill/>
        </p:spPr>
        <p:txBody>
          <a:bodyPr wrap="square" lIns="0" rIns="0" tIns="0" bIns="0" anchor="t">
            <a:noAutofit/>
          </a:bodyPr>
          <a:lstStyle/>
          <a:p>
            <a:pPr algn="l"/>
            <a:r>
              <a:rPr sz="1050" b="1" i="0">
                <a:solidFill>
                  <a:srgbClr val="1C7293"/>
                </a:solidFill>
                <a:latin typeface="Calibri"/>
              </a:rPr>
              <a:t>SIX DOCUMENTED DEVIATIONS FROM THE PAPER</a:t>
            </a:r>
          </a:p>
        </p:txBody>
      </p:sp>
      <p:sp>
        <p:nvSpPr>
          <p:cNvPr id="8" name="Oval 7"/>
          <p:cNvSpPr/>
          <p:nvPr/>
        </p:nvSpPr>
        <p:spPr>
          <a:xfrm>
            <a:off x="6364224" y="1678432"/>
            <a:ext cx="82296" cy="822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9" name="TextBox 8"/>
          <p:cNvSpPr txBox="1"/>
          <p:nvPr/>
        </p:nvSpPr>
        <p:spPr>
          <a:xfrm>
            <a:off x="6638544" y="1627632"/>
            <a:ext cx="4864608" cy="433070"/>
          </a:xfrm>
          <a:prstGeom prst="rect">
            <a:avLst/>
          </a:prstGeom>
          <a:noFill/>
        </p:spPr>
        <p:txBody>
          <a:bodyPr wrap="square" lIns="0" rIns="0" tIns="0" bIns="0" anchor="t">
            <a:noAutofit/>
          </a:bodyPr>
          <a:lstStyle/>
          <a:p>
            <a:pPr algn="l">
              <a:lnSpc>
                <a:spcPct val="100000"/>
              </a:lnSpc>
            </a:pPr>
            <a:r>
              <a:rPr sz="1250" b="1" i="0">
                <a:solidFill>
                  <a:srgbClr val="121A2A"/>
                </a:solidFill>
                <a:latin typeface="Calibri"/>
              </a:rPr>
              <a:t>Sampled reconstruction. </a:t>
            </a:r>
            <a:r>
              <a:rPr sz="1250" b="0" i="0">
                <a:solidFill>
                  <a:srgbClr val="64748B"/>
                </a:solidFill>
                <a:latin typeface="Calibri"/>
              </a:rPr>
              <a:t>10,000 positive and 10,000 negative pairs per epoch replace the dense all-pair loss.</a:t>
            </a:r>
          </a:p>
        </p:txBody>
      </p:sp>
      <p:sp>
        <p:nvSpPr>
          <p:cNvPr id="10" name="Oval 9"/>
          <p:cNvSpPr/>
          <p:nvPr/>
        </p:nvSpPr>
        <p:spPr>
          <a:xfrm>
            <a:off x="6364224" y="2239518"/>
            <a:ext cx="82296" cy="822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11" name="TextBox 10"/>
          <p:cNvSpPr txBox="1"/>
          <p:nvPr/>
        </p:nvSpPr>
        <p:spPr>
          <a:xfrm>
            <a:off x="6638544" y="2188718"/>
            <a:ext cx="4864608" cy="433070"/>
          </a:xfrm>
          <a:prstGeom prst="rect">
            <a:avLst/>
          </a:prstGeom>
          <a:noFill/>
        </p:spPr>
        <p:txBody>
          <a:bodyPr wrap="square" lIns="0" rIns="0" tIns="0" bIns="0" anchor="t">
            <a:noAutofit/>
          </a:bodyPr>
          <a:lstStyle/>
          <a:p>
            <a:pPr algn="l">
              <a:lnSpc>
                <a:spcPct val="100000"/>
              </a:lnSpc>
            </a:pPr>
            <a:r>
              <a:rPr sz="1250" b="1" i="0">
                <a:solidFill>
                  <a:srgbClr val="121A2A"/>
                </a:solidFill>
                <a:latin typeface="Calibri"/>
              </a:rPr>
              <a:t>Means, not sums. </a:t>
            </a:r>
            <a:r>
              <a:rPr sz="1250" b="0" i="0">
                <a:solidFill>
                  <a:srgbClr val="64748B"/>
                </a:solidFill>
                <a:latin typeface="Calibri"/>
              </a:rPr>
              <a:t>Each loss is averaged over its own samples, changing its scale against weight decay.</a:t>
            </a:r>
          </a:p>
        </p:txBody>
      </p:sp>
      <p:sp>
        <p:nvSpPr>
          <p:cNvPr id="12" name="Oval 11"/>
          <p:cNvSpPr/>
          <p:nvPr/>
        </p:nvSpPr>
        <p:spPr>
          <a:xfrm>
            <a:off x="6364224" y="2800604"/>
            <a:ext cx="82296" cy="822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13" name="TextBox 12"/>
          <p:cNvSpPr txBox="1"/>
          <p:nvPr/>
        </p:nvSpPr>
        <p:spPr>
          <a:xfrm>
            <a:off x="6638544" y="2749804"/>
            <a:ext cx="4864608" cy="433070"/>
          </a:xfrm>
          <a:prstGeom prst="rect">
            <a:avLst/>
          </a:prstGeom>
          <a:noFill/>
        </p:spPr>
        <p:txBody>
          <a:bodyPr wrap="square" lIns="0" rIns="0" tIns="0" bIns="0" anchor="t">
            <a:noAutofit/>
          </a:bodyPr>
          <a:lstStyle/>
          <a:p>
            <a:pPr algn="l">
              <a:lnSpc>
                <a:spcPct val="100000"/>
              </a:lnSpc>
            </a:pPr>
            <a:r>
              <a:rPr sz="1250" b="1" i="0">
                <a:solidFill>
                  <a:srgbClr val="121A2A"/>
                </a:solidFill>
                <a:latin typeface="Calibri"/>
              </a:rPr>
              <a:t>Fixed cluster centres. </a:t>
            </a:r>
            <a:r>
              <a:rPr sz="1250" b="0" i="0">
                <a:solidFill>
                  <a:srgbClr val="64748B"/>
                </a:solidFill>
                <a:latin typeface="Calibri"/>
              </a:rPr>
              <a:t>k-means runs once on the untrained encoder; no update rule is given.</a:t>
            </a:r>
          </a:p>
        </p:txBody>
      </p:sp>
      <p:sp>
        <p:nvSpPr>
          <p:cNvPr id="14" name="Oval 13"/>
          <p:cNvSpPr/>
          <p:nvPr/>
        </p:nvSpPr>
        <p:spPr>
          <a:xfrm>
            <a:off x="6364224" y="3361690"/>
            <a:ext cx="82296" cy="822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15" name="TextBox 14"/>
          <p:cNvSpPr txBox="1"/>
          <p:nvPr/>
        </p:nvSpPr>
        <p:spPr>
          <a:xfrm>
            <a:off x="6638544" y="3310890"/>
            <a:ext cx="4864608" cy="433070"/>
          </a:xfrm>
          <a:prstGeom prst="rect">
            <a:avLst/>
          </a:prstGeom>
          <a:noFill/>
        </p:spPr>
        <p:txBody>
          <a:bodyPr wrap="square" lIns="0" rIns="0" tIns="0" bIns="0" anchor="t">
            <a:noAutofit/>
          </a:bodyPr>
          <a:lstStyle/>
          <a:p>
            <a:pPr algn="l">
              <a:lnSpc>
                <a:spcPct val="100000"/>
              </a:lnSpc>
            </a:pPr>
            <a:r>
              <a:rPr sz="1250" b="1" i="0">
                <a:solidFill>
                  <a:srgbClr val="121A2A"/>
                </a:solidFill>
                <a:latin typeface="Calibri"/>
              </a:rPr>
              <a:t>Assumed constants. </a:t>
            </a:r>
            <a:r>
              <a:rPr sz="1250" b="0" i="0">
                <a:solidFill>
                  <a:srgbClr val="64748B"/>
                </a:solidFill>
                <a:latin typeface="Calibri"/>
              </a:rPr>
              <a:t>Feature row normalisation, γ = 1.01 and a weight cap of 100 are declared assumptions.</a:t>
            </a:r>
          </a:p>
        </p:txBody>
      </p:sp>
      <p:sp>
        <p:nvSpPr>
          <p:cNvPr id="16" name="Oval 15"/>
          <p:cNvSpPr/>
          <p:nvPr/>
        </p:nvSpPr>
        <p:spPr>
          <a:xfrm>
            <a:off x="6364224" y="3922776"/>
            <a:ext cx="82296" cy="822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17" name="TextBox 16"/>
          <p:cNvSpPr txBox="1"/>
          <p:nvPr/>
        </p:nvSpPr>
        <p:spPr>
          <a:xfrm>
            <a:off x="6638544" y="3871976"/>
            <a:ext cx="4864608" cy="433070"/>
          </a:xfrm>
          <a:prstGeom prst="rect">
            <a:avLst/>
          </a:prstGeom>
          <a:noFill/>
        </p:spPr>
        <p:txBody>
          <a:bodyPr wrap="square" lIns="0" rIns="0" tIns="0" bIns="0" anchor="t">
            <a:noAutofit/>
          </a:bodyPr>
          <a:lstStyle/>
          <a:p>
            <a:pPr algn="l">
              <a:lnSpc>
                <a:spcPct val="100000"/>
              </a:lnSpc>
            </a:pPr>
            <a:r>
              <a:rPr sz="1250" b="1" i="0">
                <a:solidFill>
                  <a:srgbClr val="121A2A"/>
                </a:solidFill>
                <a:latin typeface="Calibri"/>
              </a:rPr>
              <a:t>Sign corrections. </a:t>
            </a:r>
            <a:r>
              <a:rPr sz="1250" b="0" i="0">
                <a:solidFill>
                  <a:srgbClr val="64748B"/>
                </a:solidFill>
                <a:latin typeface="Calibri"/>
              </a:rPr>
              <a:t>Printed signs in Eq. (4) and Eqs. (10) and (14) conflict with the stated minimisation.</a:t>
            </a:r>
          </a:p>
        </p:txBody>
      </p:sp>
      <p:sp>
        <p:nvSpPr>
          <p:cNvPr id="18" name="Oval 17"/>
          <p:cNvSpPr/>
          <p:nvPr/>
        </p:nvSpPr>
        <p:spPr>
          <a:xfrm>
            <a:off x="6364224" y="4483862"/>
            <a:ext cx="82296" cy="822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19" name="TextBox 18"/>
          <p:cNvSpPr txBox="1"/>
          <p:nvPr/>
        </p:nvSpPr>
        <p:spPr>
          <a:xfrm>
            <a:off x="6638544" y="4433062"/>
            <a:ext cx="4864608" cy="433070"/>
          </a:xfrm>
          <a:prstGeom prst="rect">
            <a:avLst/>
          </a:prstGeom>
          <a:noFill/>
        </p:spPr>
        <p:txBody>
          <a:bodyPr wrap="square" lIns="0" rIns="0" tIns="0" bIns="0" anchor="t">
            <a:noAutofit/>
          </a:bodyPr>
          <a:lstStyle/>
          <a:p>
            <a:pPr algn="l">
              <a:lnSpc>
                <a:spcPct val="100000"/>
              </a:lnSpc>
            </a:pPr>
            <a:r>
              <a:rPr sz="1250" b="1" i="0">
                <a:solidFill>
                  <a:srgbClr val="121A2A"/>
                </a:solidFill>
                <a:latin typeface="Calibri"/>
              </a:rPr>
              <a:t>Different splits. </a:t>
            </a:r>
            <a:r>
              <a:rPr sz="1250" b="0" i="0">
                <a:solidFill>
                  <a:srgbClr val="64748B"/>
                </a:solidFill>
                <a:latin typeface="Calibri"/>
              </a:rPr>
              <a:t>New seeded random masks over three seeds, against ten trials on unpublished splits.</a:t>
            </a:r>
          </a:p>
        </p:txBody>
      </p:sp>
      <p:sp>
        <p:nvSpPr>
          <p:cNvPr id="20" name="Rounded Rectangle 19"/>
          <p:cNvSpPr/>
          <p:nvPr/>
        </p:nvSpPr>
        <p:spPr>
          <a:xfrm>
            <a:off x="685800" y="5358384"/>
            <a:ext cx="10820095" cy="841248"/>
          </a:xfrm>
          <a:prstGeom prst="roundRect">
            <a:avLst>
              <a:gd name="adj" fmla="val 7000"/>
            </a:avLst>
          </a:prstGeom>
          <a:solidFill>
            <a:srgbClr val="121A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0"/>
          <p:cNvSpPr txBox="1"/>
          <p:nvPr/>
        </p:nvSpPr>
        <p:spPr>
          <a:xfrm>
            <a:off x="1033271" y="5541264"/>
            <a:ext cx="10125151" cy="470408"/>
          </a:xfrm>
          <a:prstGeom prst="rect">
            <a:avLst/>
          </a:prstGeom>
          <a:noFill/>
        </p:spPr>
        <p:txBody>
          <a:bodyPr wrap="square" lIns="0" rIns="0" tIns="0" bIns="0" anchor="t">
            <a:noAutofit/>
          </a:bodyPr>
          <a:lstStyle/>
          <a:p>
            <a:pPr algn="l">
              <a:lnSpc>
                <a:spcPct val="112000"/>
              </a:lnSpc>
            </a:pPr>
            <a:r>
              <a:rPr sz="1250" b="0" i="0">
                <a:solidFill>
                  <a:srgbClr val="A9BBCC"/>
                </a:solidFill>
                <a:latin typeface="Calibri"/>
              </a:rPr>
              <a:t>None of these is claimed as the cause. The ablations describe this implementation under these settings — they are not a refutation of the original method, and the deviations above are what a follow-up study would test first, on validation data only.</a:t>
            </a:r>
          </a:p>
        </p:txBody>
      </p:sp>
      <p:sp>
        <p:nvSpPr>
          <p:cNvPr id="22" name="TextBox 21"/>
          <p:cNvSpPr txBox="1"/>
          <p:nvPr/>
        </p:nvSpPr>
        <p:spPr>
          <a:xfrm>
            <a:off x="685800" y="6400800"/>
            <a:ext cx="7315200" cy="201168"/>
          </a:xfrm>
          <a:prstGeom prst="rect">
            <a:avLst/>
          </a:prstGeom>
          <a:noFill/>
        </p:spPr>
        <p:txBody>
          <a:bodyPr wrap="square" lIns="0" rIns="0" tIns="0" bIns="0" anchor="t">
            <a:noAutofit/>
          </a:bodyPr>
          <a:lstStyle/>
          <a:p>
            <a:pPr algn="l"/>
            <a:r>
              <a:rPr sz="900" b="0" i="0">
                <a:solidFill>
                  <a:srgbClr val="64748B"/>
                </a:solidFill>
                <a:latin typeface="Calibri"/>
              </a:rPr>
              <a:t>GNN-INCM replication  |  Huang, Tang &amp; Chen (2022), Knowledge-Based Systems 244, 108538</a:t>
            </a:r>
          </a:p>
        </p:txBody>
      </p:sp>
      <p:sp>
        <p:nvSpPr>
          <p:cNvPr id="23" name="TextBox 22"/>
          <p:cNvSpPr txBox="1"/>
          <p:nvPr/>
        </p:nvSpPr>
        <p:spPr>
          <a:xfrm>
            <a:off x="10591495" y="6400800"/>
            <a:ext cx="914400" cy="201168"/>
          </a:xfrm>
          <a:prstGeom prst="rect">
            <a:avLst/>
          </a:prstGeom>
          <a:noFill/>
        </p:spPr>
        <p:txBody>
          <a:bodyPr wrap="square" lIns="0" rIns="0" tIns="0" bIns="0" anchor="t">
            <a:noAutofit/>
          </a:bodyPr>
          <a:lstStyle/>
          <a:p>
            <a:pPr algn="r"/>
            <a:r>
              <a:rPr sz="900" b="0" i="0">
                <a:solidFill>
                  <a:srgbClr val="64748B"/>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A2A"/>
        </a:solidFill>
        <a:effectLst/>
      </p:bgPr>
    </p:bg>
    <p:spTree>
      <p:nvGrpSpPr>
        <p:cNvPr id="1" name=""/>
        <p:cNvGrpSpPr/>
        <p:nvPr/>
      </p:nvGrpSpPr>
      <p:grpSpPr/>
      <p:sp>
        <p:nvSpPr>
          <p:cNvPr id="2" name="TextBox 1"/>
          <p:cNvSpPr txBox="1"/>
          <p:nvPr/>
        </p:nvSpPr>
        <p:spPr>
          <a:xfrm>
            <a:off x="685800" y="1152144"/>
            <a:ext cx="10820095" cy="237744"/>
          </a:xfrm>
          <a:prstGeom prst="rect">
            <a:avLst/>
          </a:prstGeom>
          <a:noFill/>
        </p:spPr>
        <p:txBody>
          <a:bodyPr wrap="square" lIns="0" rIns="0" tIns="0" bIns="0" anchor="t">
            <a:noAutofit/>
          </a:bodyPr>
          <a:lstStyle/>
          <a:p>
            <a:pPr algn="l"/>
            <a:r>
              <a:rPr sz="1150" b="1" i="0">
                <a:solidFill>
                  <a:srgbClr val="D9A441"/>
                </a:solidFill>
                <a:latin typeface="Calibri"/>
              </a:rPr>
              <a:t>CONCLUSION</a:t>
            </a:r>
          </a:p>
        </p:txBody>
      </p:sp>
      <p:sp>
        <p:nvSpPr>
          <p:cNvPr id="3" name="TextBox 2"/>
          <p:cNvSpPr txBox="1"/>
          <p:nvPr/>
        </p:nvSpPr>
        <p:spPr>
          <a:xfrm>
            <a:off x="685800" y="1481328"/>
            <a:ext cx="10820095" cy="658368"/>
          </a:xfrm>
          <a:prstGeom prst="rect">
            <a:avLst/>
          </a:prstGeom>
          <a:noFill/>
        </p:spPr>
        <p:txBody>
          <a:bodyPr wrap="square" lIns="0" rIns="0" tIns="0" bIns="0" anchor="t">
            <a:noAutofit/>
          </a:bodyPr>
          <a:lstStyle/>
          <a:p>
            <a:pPr algn="l"/>
            <a:r>
              <a:rPr sz="4000" b="1" i="0">
                <a:solidFill>
                  <a:srgbClr val="FFFFFF"/>
                </a:solidFill>
                <a:latin typeface="Cambria"/>
              </a:rPr>
              <a:t>A reproducible record, not a replication</a:t>
            </a:r>
          </a:p>
        </p:txBody>
      </p:sp>
      <p:sp>
        <p:nvSpPr>
          <p:cNvPr id="4" name="TextBox 3"/>
          <p:cNvSpPr txBox="1"/>
          <p:nvPr/>
        </p:nvSpPr>
        <p:spPr>
          <a:xfrm>
            <a:off x="685800" y="2286000"/>
            <a:ext cx="10332720" cy="896112"/>
          </a:xfrm>
          <a:prstGeom prst="rect">
            <a:avLst/>
          </a:prstGeom>
          <a:noFill/>
        </p:spPr>
        <p:txBody>
          <a:bodyPr wrap="square" lIns="0" rIns="0" tIns="0" bIns="0" anchor="t">
            <a:noAutofit/>
          </a:bodyPr>
          <a:lstStyle/>
          <a:p>
            <a:pPr algn="l">
              <a:lnSpc>
                <a:spcPct val="114000"/>
              </a:lnSpc>
            </a:pPr>
            <a:r>
              <a:rPr sz="1550" b="0" i="0">
                <a:solidFill>
                  <a:srgbClr val="A9BBCC"/>
                </a:solidFill>
                <a:latin typeface="Calibri"/>
              </a:rPr>
              <a:t>The project delivers an inspectable implementation, real input provenance, saved splits and checkpoints, and comparison tables that mark what was never run. It does not recover the original headline results, and it is not presented as an exact replication.</a:t>
            </a:r>
          </a:p>
        </p:txBody>
      </p:sp>
      <p:sp>
        <p:nvSpPr>
          <p:cNvPr id="5" name="Rounded Rectangle 4"/>
          <p:cNvSpPr/>
          <p:nvPr/>
        </p:nvSpPr>
        <p:spPr>
          <a:xfrm>
            <a:off x="685800" y="3127248"/>
            <a:ext cx="5294376" cy="2066543"/>
          </a:xfrm>
          <a:prstGeom prst="roundRect">
            <a:avLst>
              <a:gd name="adj" fmla="val 7000"/>
            </a:avLst>
          </a:prstGeom>
          <a:solidFill>
            <a:srgbClr val="1E2B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960120" y="3346704"/>
            <a:ext cx="4754880" cy="237744"/>
          </a:xfrm>
          <a:prstGeom prst="rect">
            <a:avLst/>
          </a:prstGeom>
          <a:noFill/>
        </p:spPr>
        <p:txBody>
          <a:bodyPr wrap="square" lIns="0" rIns="0" tIns="0" bIns="0" anchor="t">
            <a:noAutofit/>
          </a:bodyPr>
          <a:lstStyle/>
          <a:p>
            <a:pPr algn="l"/>
            <a:r>
              <a:rPr sz="1050" b="1" i="0">
                <a:solidFill>
                  <a:srgbClr val="D9A441"/>
                </a:solidFill>
                <a:latin typeface="Calibri"/>
              </a:rPr>
              <a:t>WHAT STANDS</a:t>
            </a:r>
          </a:p>
        </p:txBody>
      </p:sp>
      <p:sp>
        <p:nvSpPr>
          <p:cNvPr id="7" name="Oval 6"/>
          <p:cNvSpPr/>
          <p:nvPr/>
        </p:nvSpPr>
        <p:spPr>
          <a:xfrm>
            <a:off x="960120" y="3742944"/>
            <a:ext cx="82296" cy="82296"/>
          </a:xfrm>
          <a:prstGeom prst="ellipse">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8" name="TextBox 7"/>
          <p:cNvSpPr txBox="1"/>
          <p:nvPr/>
        </p:nvSpPr>
        <p:spPr>
          <a:xfrm>
            <a:off x="1234440" y="3694176"/>
            <a:ext cx="4526280" cy="417576"/>
          </a:xfrm>
          <a:prstGeom prst="rect">
            <a:avLst/>
          </a:prstGeom>
          <a:noFill/>
        </p:spPr>
        <p:txBody>
          <a:bodyPr wrap="square" lIns="0" rIns="0" tIns="0" bIns="0" anchor="t">
            <a:noAutofit/>
          </a:bodyPr>
          <a:lstStyle/>
          <a:p>
            <a:pPr algn="l">
              <a:lnSpc>
                <a:spcPct val="100000"/>
              </a:lnSpc>
            </a:pPr>
            <a:r>
              <a:rPr sz="1200" b="0" i="0">
                <a:solidFill>
                  <a:srgbClr val="A9BBCC"/>
                </a:solidFill>
                <a:latin typeface="Calibri"/>
              </a:rPr>
              <a:t>ECO, GRO and hard-sample weighting implemented and individually ablated</a:t>
            </a:r>
          </a:p>
        </p:txBody>
      </p:sp>
      <p:sp>
        <p:nvSpPr>
          <p:cNvPr id="9" name="Oval 8"/>
          <p:cNvSpPr/>
          <p:nvPr/>
        </p:nvSpPr>
        <p:spPr>
          <a:xfrm>
            <a:off x="960120" y="4270248"/>
            <a:ext cx="82296" cy="82296"/>
          </a:xfrm>
          <a:prstGeom prst="ellipse">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10" name="TextBox 9"/>
          <p:cNvSpPr txBox="1"/>
          <p:nvPr/>
        </p:nvSpPr>
        <p:spPr>
          <a:xfrm>
            <a:off x="1234440" y="4221480"/>
            <a:ext cx="4526280" cy="417576"/>
          </a:xfrm>
          <a:prstGeom prst="rect">
            <a:avLst/>
          </a:prstGeom>
          <a:noFill/>
        </p:spPr>
        <p:txBody>
          <a:bodyPr wrap="square" lIns="0" rIns="0" tIns="0" bIns="0" anchor="t">
            <a:noAutofit/>
          </a:bodyPr>
          <a:lstStyle/>
          <a:p>
            <a:pPr algn="l">
              <a:lnSpc>
                <a:spcPct val="100000"/>
              </a:lnSpc>
            </a:pPr>
            <a:r>
              <a:rPr sz="1200" b="0" i="0">
                <a:solidFill>
                  <a:srgbClr val="A9BBCC"/>
                </a:solidFill>
                <a:latin typeface="Calibri"/>
              </a:rPr>
              <a:t>27 runs with checkpoints, masks, metrics, per-node predictions and input hashes</a:t>
            </a:r>
          </a:p>
        </p:txBody>
      </p:sp>
      <p:sp>
        <p:nvSpPr>
          <p:cNvPr id="11" name="Oval 10"/>
          <p:cNvSpPr/>
          <p:nvPr/>
        </p:nvSpPr>
        <p:spPr>
          <a:xfrm>
            <a:off x="960120" y="4797552"/>
            <a:ext cx="82296" cy="82296"/>
          </a:xfrm>
          <a:prstGeom prst="ellipse">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12" name="TextBox 11"/>
          <p:cNvSpPr txBox="1"/>
          <p:nvPr/>
        </p:nvSpPr>
        <p:spPr>
          <a:xfrm>
            <a:off x="1234440" y="4748784"/>
            <a:ext cx="4526280" cy="231648"/>
          </a:xfrm>
          <a:prstGeom prst="rect">
            <a:avLst/>
          </a:prstGeom>
          <a:noFill/>
        </p:spPr>
        <p:txBody>
          <a:bodyPr wrap="square" lIns="0" rIns="0" tIns="0" bIns="0" anchor="t">
            <a:noAutofit/>
          </a:bodyPr>
          <a:lstStyle/>
          <a:p>
            <a:pPr algn="l">
              <a:lnSpc>
                <a:spcPct val="100000"/>
              </a:lnSpc>
            </a:pPr>
            <a:r>
              <a:rPr sz="1200" b="0" i="0">
                <a:solidFill>
                  <a:srgbClr val="A9BBCC"/>
                </a:solidFill>
                <a:latin typeface="Calibri"/>
              </a:rPr>
              <a:t>Comparison tables that mark unrun cells instead of filling them in</a:t>
            </a:r>
          </a:p>
        </p:txBody>
      </p:sp>
      <p:sp>
        <p:nvSpPr>
          <p:cNvPr id="13" name="Rounded Rectangle 12"/>
          <p:cNvSpPr/>
          <p:nvPr/>
        </p:nvSpPr>
        <p:spPr>
          <a:xfrm>
            <a:off x="6208776" y="3127248"/>
            <a:ext cx="5294376" cy="2066543"/>
          </a:xfrm>
          <a:prstGeom prst="roundRect">
            <a:avLst>
              <a:gd name="adj" fmla="val 7000"/>
            </a:avLst>
          </a:prstGeom>
          <a:solidFill>
            <a:srgbClr val="1E2B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6483096" y="3346704"/>
            <a:ext cx="4754880" cy="237744"/>
          </a:xfrm>
          <a:prstGeom prst="rect">
            <a:avLst/>
          </a:prstGeom>
          <a:noFill/>
        </p:spPr>
        <p:txBody>
          <a:bodyPr wrap="square" lIns="0" rIns="0" tIns="0" bIns="0" anchor="t">
            <a:noAutofit/>
          </a:bodyPr>
          <a:lstStyle/>
          <a:p>
            <a:pPr algn="l"/>
            <a:r>
              <a:rPr sz="1050" b="1" i="0">
                <a:solidFill>
                  <a:srgbClr val="C45A3C"/>
                </a:solidFill>
                <a:latin typeface="Calibri"/>
              </a:rPr>
              <a:t>WHAT DOES NOT</a:t>
            </a:r>
          </a:p>
        </p:txBody>
      </p:sp>
      <p:sp>
        <p:nvSpPr>
          <p:cNvPr id="15" name="Oval 14"/>
          <p:cNvSpPr/>
          <p:nvPr/>
        </p:nvSpPr>
        <p:spPr>
          <a:xfrm>
            <a:off x="6483096" y="3742944"/>
            <a:ext cx="82296" cy="82296"/>
          </a:xfrm>
          <a:prstGeom prst="ellipse">
            <a:avLst/>
          </a:prstGeom>
          <a:solidFill>
            <a:srgbClr val="C45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16" name="TextBox 15"/>
          <p:cNvSpPr txBox="1"/>
          <p:nvPr/>
        </p:nvSpPr>
        <p:spPr>
          <a:xfrm>
            <a:off x="6757416" y="3694176"/>
            <a:ext cx="4526280" cy="231648"/>
          </a:xfrm>
          <a:prstGeom prst="rect">
            <a:avLst/>
          </a:prstGeom>
          <a:noFill/>
        </p:spPr>
        <p:txBody>
          <a:bodyPr wrap="square" lIns="0" rIns="0" tIns="0" bIns="0" anchor="t">
            <a:noAutofit/>
          </a:bodyPr>
          <a:lstStyle/>
          <a:p>
            <a:pPr algn="l">
              <a:lnSpc>
                <a:spcPct val="100000"/>
              </a:lnSpc>
            </a:pPr>
            <a:r>
              <a:rPr sz="1200" b="0" i="0">
                <a:solidFill>
                  <a:srgbClr val="A9BBCC"/>
                </a:solidFill>
                <a:latin typeface="Calibri"/>
              </a:rPr>
              <a:t>The published numbers: every dataset lands below Table 2</a:t>
            </a:r>
          </a:p>
        </p:txBody>
      </p:sp>
      <p:sp>
        <p:nvSpPr>
          <p:cNvPr id="17" name="Oval 16"/>
          <p:cNvSpPr/>
          <p:nvPr/>
        </p:nvSpPr>
        <p:spPr>
          <a:xfrm>
            <a:off x="6483096" y="4084320"/>
            <a:ext cx="82296" cy="82296"/>
          </a:xfrm>
          <a:prstGeom prst="ellipse">
            <a:avLst/>
          </a:prstGeom>
          <a:solidFill>
            <a:srgbClr val="C45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18" name="TextBox 17"/>
          <p:cNvSpPr txBox="1"/>
          <p:nvPr/>
        </p:nvSpPr>
        <p:spPr>
          <a:xfrm>
            <a:off x="6757416" y="4035552"/>
            <a:ext cx="4526280" cy="231648"/>
          </a:xfrm>
          <a:prstGeom prst="rect">
            <a:avLst/>
          </a:prstGeom>
          <a:noFill/>
        </p:spPr>
        <p:txBody>
          <a:bodyPr wrap="square" lIns="0" rIns="0" tIns="0" bIns="0" anchor="t">
            <a:noAutofit/>
          </a:bodyPr>
          <a:lstStyle/>
          <a:p>
            <a:pPr algn="l">
              <a:lnSpc>
                <a:spcPct val="100000"/>
              </a:lnSpc>
            </a:pPr>
            <a:r>
              <a:rPr sz="1200" b="0" i="0">
                <a:solidFill>
                  <a:srgbClr val="A9BBCC"/>
                </a:solidFill>
                <a:latin typeface="Calibri"/>
              </a:rPr>
              <a:t>The ablation claim: removing the hard weights improves Cora</a:t>
            </a:r>
          </a:p>
        </p:txBody>
      </p:sp>
      <p:sp>
        <p:nvSpPr>
          <p:cNvPr id="19" name="Oval 18"/>
          <p:cNvSpPr/>
          <p:nvPr/>
        </p:nvSpPr>
        <p:spPr>
          <a:xfrm>
            <a:off x="6483096" y="4425696"/>
            <a:ext cx="82296" cy="82296"/>
          </a:xfrm>
          <a:prstGeom prst="ellipse">
            <a:avLst/>
          </a:prstGeom>
          <a:solidFill>
            <a:srgbClr val="C45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20" name="TextBox 19"/>
          <p:cNvSpPr txBox="1"/>
          <p:nvPr/>
        </p:nvSpPr>
        <p:spPr>
          <a:xfrm>
            <a:off x="6757416" y="4376928"/>
            <a:ext cx="4526280" cy="231648"/>
          </a:xfrm>
          <a:prstGeom prst="rect">
            <a:avLst/>
          </a:prstGeom>
          <a:noFill/>
        </p:spPr>
        <p:txBody>
          <a:bodyPr wrap="square" lIns="0" rIns="0" tIns="0" bIns="0" anchor="t">
            <a:noAutofit/>
          </a:bodyPr>
          <a:lstStyle/>
          <a:p>
            <a:pPr algn="l">
              <a:lnSpc>
                <a:spcPct val="100000"/>
              </a:lnSpc>
            </a:pPr>
            <a:r>
              <a:rPr sz="1200" b="0" i="0">
                <a:solidFill>
                  <a:srgbClr val="A9BBCC"/>
                </a:solidFill>
                <a:latin typeface="Calibri"/>
              </a:rPr>
              <a:t>HSKDM, the remaining dataset ablations and ten-trial evaluation</a:t>
            </a:r>
          </a:p>
        </p:txBody>
      </p:sp>
      <p:sp>
        <p:nvSpPr>
          <p:cNvPr id="21" name="TextBox 20"/>
          <p:cNvSpPr txBox="1"/>
          <p:nvPr/>
        </p:nvSpPr>
        <p:spPr>
          <a:xfrm>
            <a:off x="685800" y="5376672"/>
            <a:ext cx="10332720" cy="512064"/>
          </a:xfrm>
          <a:prstGeom prst="rect">
            <a:avLst/>
          </a:prstGeom>
          <a:noFill/>
        </p:spPr>
        <p:txBody>
          <a:bodyPr wrap="square" lIns="0" rIns="0" tIns="0" bIns="0" anchor="t">
            <a:noAutofit/>
          </a:bodyPr>
          <a:lstStyle/>
          <a:p>
            <a:pPr algn="l">
              <a:lnSpc>
                <a:spcPct val="112000"/>
              </a:lnSpc>
            </a:pPr>
            <a:r>
              <a:rPr sz="1300" b="0" i="0">
                <a:solidFill>
                  <a:srgbClr val="FFFFFF"/>
                </a:solidFill>
                <a:latin typeface="Calibri"/>
              </a:rPr>
              <a:t>Next: resolve centre initialisation and loss scaling against recovered author code, test the assumed settings on validation data with the test sets untouched, then scale to ten trials and HSKDM.</a:t>
            </a:r>
          </a:p>
        </p:txBody>
      </p:sp>
      <p:sp>
        <p:nvSpPr>
          <p:cNvPr id="22" name="TextBox 21"/>
          <p:cNvSpPr txBox="1"/>
          <p:nvPr/>
        </p:nvSpPr>
        <p:spPr>
          <a:xfrm>
            <a:off x="685800" y="5980176"/>
            <a:ext cx="10332720" cy="274320"/>
          </a:xfrm>
          <a:prstGeom prst="rect">
            <a:avLst/>
          </a:prstGeom>
          <a:noFill/>
        </p:spPr>
        <p:txBody>
          <a:bodyPr wrap="square" lIns="0" rIns="0" tIns="0" bIns="0" anchor="t">
            <a:noAutofit/>
          </a:bodyPr>
          <a:lstStyle/>
          <a:p>
            <a:pPr algn="l"/>
            <a:r>
              <a:rPr sz="1100" b="0" i="0">
                <a:solidFill>
                  <a:srgbClr val="7E90A4"/>
                </a:solidFill>
                <a:latin typeface="Calibri"/>
              </a:rPr>
              <a:t>Original credit for the method and its published results belongs to Huang, Tang and Chen. This reproduction was prepared independently, with AI assistance.</a:t>
            </a:r>
          </a:p>
        </p:txBody>
      </p:sp>
      <p:sp>
        <p:nvSpPr>
          <p:cNvPr id="23" name="TextBox 22"/>
          <p:cNvSpPr txBox="1"/>
          <p:nvPr/>
        </p:nvSpPr>
        <p:spPr>
          <a:xfrm>
            <a:off x="685800" y="6400800"/>
            <a:ext cx="7315200" cy="201168"/>
          </a:xfrm>
          <a:prstGeom prst="rect">
            <a:avLst/>
          </a:prstGeom>
          <a:noFill/>
        </p:spPr>
        <p:txBody>
          <a:bodyPr wrap="square" lIns="0" rIns="0" tIns="0" bIns="0" anchor="t">
            <a:noAutofit/>
          </a:bodyPr>
          <a:lstStyle/>
          <a:p>
            <a:pPr algn="l"/>
            <a:r>
              <a:rPr sz="900" b="0" i="0">
                <a:solidFill>
                  <a:srgbClr val="A9BBCC"/>
                </a:solidFill>
                <a:latin typeface="Calibri"/>
              </a:rPr>
              <a:t>GNN-INCM replication  |  Huang, Tang &amp; Chen (2022), Knowledge-Based Systems 244, 108538</a:t>
            </a:r>
          </a:p>
        </p:txBody>
      </p:sp>
      <p:sp>
        <p:nvSpPr>
          <p:cNvPr id="24" name="TextBox 23"/>
          <p:cNvSpPr txBox="1"/>
          <p:nvPr/>
        </p:nvSpPr>
        <p:spPr>
          <a:xfrm>
            <a:off x="10591495" y="6400800"/>
            <a:ext cx="914400" cy="201168"/>
          </a:xfrm>
          <a:prstGeom prst="rect">
            <a:avLst/>
          </a:prstGeom>
          <a:noFill/>
        </p:spPr>
        <p:txBody>
          <a:bodyPr wrap="square" lIns="0" rIns="0" tIns="0" bIns="0" anchor="t">
            <a:noAutofit/>
          </a:bodyPr>
          <a:lstStyle/>
          <a:p>
            <a:pPr algn="r"/>
            <a:r>
              <a:rPr sz="900" b="0" i="0">
                <a:solidFill>
                  <a:srgbClr val="A9BBCC"/>
                </a:solidFill>
                <a:latin typeface="Calibri"/>
              </a:rP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Reproducing GNN-INCM</dc:title>
  <dc:subject>Independent replication of Huang, Tang and Chen (2022)</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